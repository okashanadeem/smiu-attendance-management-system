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0" r:id="rId3"/>
    <p:sldId id="261" r:id="rId4"/>
    <p:sldId id="273" r:id="rId5"/>
    <p:sldId id="257" r:id="rId6"/>
    <p:sldId id="262" r:id="rId7"/>
    <p:sldId id="263" r:id="rId8"/>
    <p:sldId id="267" r:id="rId9"/>
    <p:sldId id="264" r:id="rId10"/>
    <p:sldId id="265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5922"/>
    <a:srgbClr val="0B421A"/>
    <a:srgbClr val="0C481C"/>
    <a:srgbClr val="07270F"/>
    <a:srgbClr val="DB0303"/>
    <a:srgbClr val="DAA5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741" autoAdjust="0"/>
  </p:normalViewPr>
  <p:slideViewPr>
    <p:cSldViewPr snapToGrid="0" showGuides="1">
      <p:cViewPr varScale="1">
        <p:scale>
          <a:sx n="62" d="100"/>
          <a:sy n="62" d="100"/>
        </p:scale>
        <p:origin x="86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C3917-66A4-4157-88C3-5FF78C755982}" type="datetimeFigureOut">
              <a:rPr lang="en-PK" smtClean="0"/>
              <a:t>27/12/2025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0D535-25B5-4EFC-99CB-0394E49943E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3741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60D535-25B5-4EFC-99CB-0394E49943E8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81766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31AFE5-5A5D-B237-DC00-2A499D369C4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10186" y="938283"/>
            <a:ext cx="3357349" cy="4981433"/>
          </a:xfrm>
          <a:custGeom>
            <a:avLst/>
            <a:gdLst>
              <a:gd name="connsiteX0" fmla="*/ 133555 w 3357349"/>
              <a:gd name="connsiteY0" fmla="*/ 0 h 4981433"/>
              <a:gd name="connsiteX1" fmla="*/ 3223794 w 3357349"/>
              <a:gd name="connsiteY1" fmla="*/ 0 h 4981433"/>
              <a:gd name="connsiteX2" fmla="*/ 3357349 w 3357349"/>
              <a:gd name="connsiteY2" fmla="*/ 133555 h 4981433"/>
              <a:gd name="connsiteX3" fmla="*/ 3357349 w 3357349"/>
              <a:gd name="connsiteY3" fmla="*/ 4847878 h 4981433"/>
              <a:gd name="connsiteX4" fmla="*/ 3223794 w 3357349"/>
              <a:gd name="connsiteY4" fmla="*/ 4981433 h 4981433"/>
              <a:gd name="connsiteX5" fmla="*/ 133555 w 3357349"/>
              <a:gd name="connsiteY5" fmla="*/ 4981433 h 4981433"/>
              <a:gd name="connsiteX6" fmla="*/ 0 w 3357349"/>
              <a:gd name="connsiteY6" fmla="*/ 4847878 h 4981433"/>
              <a:gd name="connsiteX7" fmla="*/ 0 w 3357349"/>
              <a:gd name="connsiteY7" fmla="*/ 133555 h 4981433"/>
              <a:gd name="connsiteX8" fmla="*/ 133555 w 3357349"/>
              <a:gd name="connsiteY8" fmla="*/ 0 h 4981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57349" h="4981433">
                <a:moveTo>
                  <a:pt x="133555" y="0"/>
                </a:moveTo>
                <a:lnTo>
                  <a:pt x="3223794" y="0"/>
                </a:lnTo>
                <a:cubicBezTo>
                  <a:pt x="3297554" y="0"/>
                  <a:pt x="3357349" y="59795"/>
                  <a:pt x="3357349" y="133555"/>
                </a:cubicBezTo>
                <a:lnTo>
                  <a:pt x="3357349" y="4847878"/>
                </a:lnTo>
                <a:cubicBezTo>
                  <a:pt x="3357349" y="4921638"/>
                  <a:pt x="3297554" y="4981433"/>
                  <a:pt x="3223794" y="4981433"/>
                </a:cubicBezTo>
                <a:lnTo>
                  <a:pt x="133555" y="4981433"/>
                </a:lnTo>
                <a:cubicBezTo>
                  <a:pt x="59795" y="4981433"/>
                  <a:pt x="0" y="4921638"/>
                  <a:pt x="0" y="4847878"/>
                </a:cubicBezTo>
                <a:lnTo>
                  <a:pt x="0" y="133555"/>
                </a:lnTo>
                <a:cubicBezTo>
                  <a:pt x="0" y="59795"/>
                  <a:pt x="59795" y="0"/>
                  <a:pt x="133555" y="0"/>
                </a:cubicBezTo>
                <a:close/>
              </a:path>
            </a:pathLst>
          </a:custGeom>
          <a:effectLst>
            <a:outerShdw blurRad="38100" dist="63500" algn="l" rotWithShape="0">
              <a:prstClr val="black">
                <a:alpha val="55000"/>
              </a:prstClr>
            </a:outerShdw>
          </a:effectLst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228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903C91-27F2-6106-CF6F-B727DBAB51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05185" y="1"/>
            <a:ext cx="4904095" cy="6858000"/>
          </a:xfrm>
          <a:custGeom>
            <a:avLst/>
            <a:gdLst>
              <a:gd name="connsiteX0" fmla="*/ 0 w 4904095"/>
              <a:gd name="connsiteY0" fmla="*/ 0 h 6858000"/>
              <a:gd name="connsiteX1" fmla="*/ 4904095 w 4904095"/>
              <a:gd name="connsiteY1" fmla="*/ 0 h 6858000"/>
              <a:gd name="connsiteX2" fmla="*/ 4904095 w 4904095"/>
              <a:gd name="connsiteY2" fmla="*/ 6858000 h 6858000"/>
              <a:gd name="connsiteX3" fmla="*/ 0 w 490409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04095" h="6858000">
                <a:moveTo>
                  <a:pt x="0" y="0"/>
                </a:moveTo>
                <a:lnTo>
                  <a:pt x="4904095" y="0"/>
                </a:lnTo>
                <a:lnTo>
                  <a:pt x="490409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28512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B0A44A7-BB45-ABFF-0A82-EB2ECC0B713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100544" cy="6858000"/>
          </a:xfrm>
          <a:custGeom>
            <a:avLst/>
            <a:gdLst>
              <a:gd name="connsiteX0" fmla="*/ 0 w 6100544"/>
              <a:gd name="connsiteY0" fmla="*/ 0 h 6858000"/>
              <a:gd name="connsiteX1" fmla="*/ 4244444 w 6100544"/>
              <a:gd name="connsiteY1" fmla="*/ 0 h 6858000"/>
              <a:gd name="connsiteX2" fmla="*/ 6100544 w 6100544"/>
              <a:gd name="connsiteY2" fmla="*/ 3040295 h 6858000"/>
              <a:gd name="connsiteX3" fmla="*/ 6100544 w 6100544"/>
              <a:gd name="connsiteY3" fmla="*/ 3428999 h 6858000"/>
              <a:gd name="connsiteX4" fmla="*/ 1230560 w 6100544"/>
              <a:gd name="connsiteY4" fmla="*/ 3428999 h 6858000"/>
              <a:gd name="connsiteX5" fmla="*/ 3323965 w 6100544"/>
              <a:gd name="connsiteY5" fmla="*/ 6858000 h 6858000"/>
              <a:gd name="connsiteX6" fmla="*/ 0 w 61005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00544" h="6858000">
                <a:moveTo>
                  <a:pt x="0" y="0"/>
                </a:moveTo>
                <a:lnTo>
                  <a:pt x="4244444" y="0"/>
                </a:lnTo>
                <a:lnTo>
                  <a:pt x="6100544" y="3040295"/>
                </a:lnTo>
                <a:lnTo>
                  <a:pt x="6100544" y="3428999"/>
                </a:lnTo>
                <a:lnTo>
                  <a:pt x="1230560" y="3428999"/>
                </a:lnTo>
                <a:lnTo>
                  <a:pt x="332396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1858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6982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A3294-5E73-DB06-FDF6-26A158D2A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164BA-9366-AA4F-F464-02D7716EA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C203E-93B0-16F5-10C4-9ABE90BE8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63BC95-ED20-FF79-1ED3-AEB9C4EAF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721A82-8AF2-D532-2633-BF9BF12FB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87DCC6-9D3B-212D-F32E-D99AE10BA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02DD-C8E8-4960-B431-5C42916DD225}" type="datetimeFigureOut">
              <a:rPr lang="en-ID" smtClean="0"/>
              <a:t>27/12/2025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D82E59-5FB6-63E5-C2E7-617CAC34D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913925-AF86-2C23-3A32-4AF61E600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D231F-7DF3-44F8-B83E-14B3581548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0282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30FA-6721-3606-3F24-AD50267D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C51CB0-02DA-698F-2D52-A7B4C9F8F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02DD-C8E8-4960-B431-5C42916DD225}" type="datetimeFigureOut">
              <a:rPr lang="en-ID" smtClean="0"/>
              <a:t>27/12/2025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D527C-7210-ABF6-EC1C-3F4832220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7D479-3A6F-6A47-4845-2F746C997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D231F-7DF3-44F8-B83E-14B3581548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0554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AE0157-CF74-B157-254C-33F0C151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02DD-C8E8-4960-B431-5C42916DD225}" type="datetimeFigureOut">
              <a:rPr lang="en-ID" smtClean="0"/>
              <a:t>27/12/2025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8AD58-323B-A4C9-D6AB-344193117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A353E-C500-3F74-DCF2-F457CEFA4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D231F-7DF3-44F8-B83E-14B3581548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7002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32A5D-7941-FF77-27EF-D76BACA35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B8558-C533-F349-8AE3-2840F55E1C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20BEF-D689-0A57-2B2E-F66D2B1C1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730863-1508-DF2E-D54F-6B78DCF27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02DD-C8E8-4960-B431-5C42916DD225}" type="datetimeFigureOut">
              <a:rPr lang="en-ID" smtClean="0"/>
              <a:t>27/12/2025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E228FF-6E6D-A522-E043-F057B6C6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7887F-C84D-D52D-56D8-8694663FD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D231F-7DF3-44F8-B83E-14B3581548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60723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DAC2C-9AE4-B433-86FD-392CCDE3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3D90B7-1ADD-4FB6-94F7-EFEF2EB068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C5C98-A40C-D4F5-8FD3-45566C42F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90891-E540-1D0A-D7C3-B491387BF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02DD-C8E8-4960-B431-5C42916DD225}" type="datetimeFigureOut">
              <a:rPr lang="en-ID" smtClean="0"/>
              <a:t>27/12/2025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DC76A-7748-3529-E00F-B51A127B7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33560-3B6C-8408-D438-CC65723B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D231F-7DF3-44F8-B83E-14B3581548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8631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E166D-FA52-6A8D-4980-C2452E2F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48C56-9D21-A429-619D-A6CEC6DFA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1CB0C-C4F2-16D9-81FF-72DA5D3FD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02DD-C8E8-4960-B431-5C42916DD225}" type="datetimeFigureOut">
              <a:rPr lang="en-ID" smtClean="0"/>
              <a:t>27/12/2025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1C2E8-6218-3EE8-80DC-D81A7E4B6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4FB4F-38CD-2917-6B2A-CC9E1E3C1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D231F-7DF3-44F8-B83E-14B3581548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749070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71B36B-142B-98DD-E52A-4F96828376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63E78C-F196-1279-78A8-26E5DDC5AF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7F7EC-3B2A-4F29-BEC8-261FAB2F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02DD-C8E8-4960-B431-5C42916DD225}" type="datetimeFigureOut">
              <a:rPr lang="en-ID" smtClean="0"/>
              <a:t>27/12/2025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705CA-B3B1-F2B8-B6E7-14778E952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9F3BC-5C61-1C9B-1D87-4E2FECC2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AD231F-7DF3-44F8-B83E-14B3581548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04004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D1ABD7-3C9E-99BD-1D8B-C5CBAFC41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C426F-952D-BD1E-BA25-DFC32F5D1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E2D0CB-8191-FAB7-EF70-EA3C0724D4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602DD-C8E8-4960-B431-5C42916DD225}" type="datetimeFigureOut">
              <a:rPr lang="en-ID" smtClean="0"/>
              <a:t>27/12/2025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358D7-8A2A-78D3-1EA8-F3AA28DE6E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FA7E5-C375-E4C0-84DD-492990E6F0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AD231F-7DF3-44F8-B83E-14B35815481F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1397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Okashanadeem/SMIU-Attendance-Management-System/blob/main/README.md#function-summary" TargetMode="External"/><Relationship Id="rId3" Type="http://schemas.openxmlformats.org/officeDocument/2006/relationships/hyperlink" Target="https://github.com/Okashanadeem/SMIU-Attendance-Management-System/blob/main/README.md#key-features" TargetMode="External"/><Relationship Id="rId7" Type="http://schemas.openxmlformats.org/officeDocument/2006/relationships/hyperlink" Target="https://github.com/Okashanadeem/SMIU-Attendance-Management-System/blob/main/README.md#data-structures" TargetMode="External"/><Relationship Id="rId2" Type="http://schemas.openxmlformats.org/officeDocument/2006/relationships/hyperlink" Target="https://github.com/Okashanadeem/SMIU-Attendance-Management-System/blob/main/README.md#project-overvie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Okashanadeem/SMIU-Attendance-Management-System/blob/main/README.md#program-flow" TargetMode="External"/><Relationship Id="rId11" Type="http://schemas.openxmlformats.org/officeDocument/2006/relationships/hyperlink" Target="https://github.com/Okashanadeem/SMIU-Attendance-Management-System/blob/main/README.md#project-team" TargetMode="External"/><Relationship Id="rId5" Type="http://schemas.openxmlformats.org/officeDocument/2006/relationships/hyperlink" Target="https://github.com/Okashanadeem/SMIU-Attendance-Management-System/blob/main/README.md#how-to-run" TargetMode="External"/><Relationship Id="rId10" Type="http://schemas.openxmlformats.org/officeDocument/2006/relationships/hyperlink" Target="https://github.com/Okashanadeem/SMIU-Attendance-Management-System/blob/main/README.md#future-improvements" TargetMode="External"/><Relationship Id="rId4" Type="http://schemas.openxmlformats.org/officeDocument/2006/relationships/hyperlink" Target="https://github.com/Okashanadeem/SMIU-Attendance-Management-System/blob/main/README.md#requirements" TargetMode="External"/><Relationship Id="rId9" Type="http://schemas.openxmlformats.org/officeDocument/2006/relationships/hyperlink" Target="https://github.com/Okashanadeem/SMIU-Attendance-Management-System/blob/main/README.md#limitations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18CCFB74-540C-32BD-1137-599A6040565E}"/>
              </a:ext>
            </a:extLst>
          </p:cNvPr>
          <p:cNvSpPr/>
          <p:nvPr/>
        </p:nvSpPr>
        <p:spPr>
          <a:xfrm rot="10800000" flipH="1" flipV="1">
            <a:off x="4915974" y="2251917"/>
            <a:ext cx="2360053" cy="460608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90500" dist="635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2977C52A-07A0-D292-2357-F00F7E90931E}"/>
              </a:ext>
            </a:extLst>
          </p:cNvPr>
          <p:cNvSpPr/>
          <p:nvPr/>
        </p:nvSpPr>
        <p:spPr>
          <a:xfrm rot="16200000" flipH="1">
            <a:off x="7371974" y="-210999"/>
            <a:ext cx="2360053" cy="72799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90500" dist="635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7055ACA1-A2DA-2F6C-49F0-4E5EC2BB2B0E}"/>
              </a:ext>
            </a:extLst>
          </p:cNvPr>
          <p:cNvSpPr/>
          <p:nvPr/>
        </p:nvSpPr>
        <p:spPr>
          <a:xfrm rot="10800000">
            <a:off x="4915973" y="-1"/>
            <a:ext cx="2360053" cy="460608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90500" dist="635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3D8558FB-F47E-9BE9-2E57-2645E5DC9A48}"/>
              </a:ext>
            </a:extLst>
          </p:cNvPr>
          <p:cNvSpPr/>
          <p:nvPr/>
        </p:nvSpPr>
        <p:spPr>
          <a:xfrm rot="5400000">
            <a:off x="2459971" y="-210999"/>
            <a:ext cx="2360053" cy="72799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90500" dist="635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A016BA-A23C-FFFD-4D3E-E4819F9088B4}"/>
              </a:ext>
            </a:extLst>
          </p:cNvPr>
          <p:cNvSpPr/>
          <p:nvPr/>
        </p:nvSpPr>
        <p:spPr>
          <a:xfrm>
            <a:off x="-399245" y="6317777"/>
            <a:ext cx="399246" cy="54022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CDE972-0DB6-642E-BD3C-C1B66EFE3236}"/>
              </a:ext>
            </a:extLst>
          </p:cNvPr>
          <p:cNvSpPr/>
          <p:nvPr/>
        </p:nvSpPr>
        <p:spPr>
          <a:xfrm>
            <a:off x="12191999" y="5808766"/>
            <a:ext cx="466374" cy="1049234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04C37B-B90C-52BB-DC0B-8B4C35E00E0E}"/>
              </a:ext>
            </a:extLst>
          </p:cNvPr>
          <p:cNvSpPr/>
          <p:nvPr/>
        </p:nvSpPr>
        <p:spPr>
          <a:xfrm>
            <a:off x="5181600" y="2545080"/>
            <a:ext cx="1816120" cy="1785619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10779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 advTm="1489">
        <p159:morph option="byObject"/>
      </p:transition>
    </mc:Choice>
    <mc:Fallback xmlns="">
      <p:transition spd="slow" advTm="1489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32115A6-57F3-BF14-9705-F041479067DB}"/>
              </a:ext>
            </a:extLst>
          </p:cNvPr>
          <p:cNvSpPr/>
          <p:nvPr/>
        </p:nvSpPr>
        <p:spPr>
          <a:xfrm>
            <a:off x="9626221" y="5808766"/>
            <a:ext cx="2565779" cy="1049234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4C4FE-49BB-BD9E-FD42-DF9407EFFEB4}"/>
              </a:ext>
            </a:extLst>
          </p:cNvPr>
          <p:cNvSpPr txBox="1"/>
          <p:nvPr/>
        </p:nvSpPr>
        <p:spPr>
          <a:xfrm>
            <a:off x="2567314" y="2849363"/>
            <a:ext cx="7221483" cy="523220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D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Attendance-Management-System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A12EA-6D3B-C5AE-7B8D-BFC10C1E64BF}"/>
              </a:ext>
            </a:extLst>
          </p:cNvPr>
          <p:cNvSpPr txBox="1"/>
          <p:nvPr/>
        </p:nvSpPr>
        <p:spPr>
          <a:xfrm>
            <a:off x="3348251" y="3376428"/>
            <a:ext cx="5495498" cy="64633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 simple, console-based C program to manage student attendance in-memory. This project is beginner-friendly and demonstrates the use of structs, arrays, and basic I/O in C.</a:t>
            </a:r>
            <a:endParaRPr lang="en-ID" sz="12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2977C52A-07A0-D292-2357-F00F7E90931E}"/>
              </a:ext>
            </a:extLst>
          </p:cNvPr>
          <p:cNvSpPr/>
          <p:nvPr/>
        </p:nvSpPr>
        <p:spPr>
          <a:xfrm rot="16200000" flipH="1">
            <a:off x="12248770" y="-201535"/>
            <a:ext cx="2360053" cy="727999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90500" dist="635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5" name="Rectangle: Top Corners Rounded 4">
            <a:extLst>
              <a:ext uri="{FF2B5EF4-FFF2-40B4-BE49-F238E27FC236}">
                <a16:creationId xmlns:a16="http://schemas.microsoft.com/office/drawing/2014/main" id="{18CCFB74-540C-32BD-1137-599A6040565E}"/>
              </a:ext>
            </a:extLst>
          </p:cNvPr>
          <p:cNvSpPr/>
          <p:nvPr/>
        </p:nvSpPr>
        <p:spPr>
          <a:xfrm rot="10800000" flipH="1" flipV="1">
            <a:off x="4915974" y="7048505"/>
            <a:ext cx="2360053" cy="460608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90500" dist="635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7055ACA1-A2DA-2F6C-49F0-4E5EC2BB2B0E}"/>
              </a:ext>
            </a:extLst>
          </p:cNvPr>
          <p:cNvSpPr/>
          <p:nvPr/>
        </p:nvSpPr>
        <p:spPr>
          <a:xfrm rot="10800000">
            <a:off x="4915973" y="-4796588"/>
            <a:ext cx="2360053" cy="460608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90500" dist="635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3D8558FB-F47E-9BE9-2E57-2645E5DC9A48}"/>
              </a:ext>
            </a:extLst>
          </p:cNvPr>
          <p:cNvSpPr/>
          <p:nvPr/>
        </p:nvSpPr>
        <p:spPr>
          <a:xfrm rot="5400000">
            <a:off x="-2416824" y="-210999"/>
            <a:ext cx="2360053" cy="727999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90500" dist="635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7E85BD-F5A3-F62D-BF49-DEB53697C3C6}"/>
              </a:ext>
            </a:extLst>
          </p:cNvPr>
          <p:cNvSpPr txBox="1"/>
          <p:nvPr/>
        </p:nvSpPr>
        <p:spPr>
          <a:xfrm>
            <a:off x="177423" y="6893039"/>
            <a:ext cx="1015663" cy="6324808"/>
          </a:xfrm>
          <a:prstGeom prst="rect">
            <a:avLst/>
          </a:prstGeom>
          <a:noFill/>
          <a:ln>
            <a:noFill/>
          </a:ln>
        </p:spPr>
        <p:txBody>
          <a:bodyPr vert="vert270" wrap="square" rtlCol="0">
            <a:spAutoFit/>
          </a:bodyPr>
          <a:lstStyle/>
          <a:p>
            <a:pPr algn="ctr"/>
            <a:r>
              <a:rPr lang="en-US" sz="5400" b="1" spc="600" dirty="0">
                <a:solidFill>
                  <a:schemeClr val="bg1"/>
                </a:solidFill>
                <a:effectLst>
                  <a:outerShdw blurRad="101600" dist="63500" dir="5400000" algn="t" rotWithShape="0">
                    <a:prstClr val="black">
                      <a:alpha val="70000"/>
                    </a:prstClr>
                  </a:outerShdw>
                </a:effectLst>
                <a:latin typeface="Helvetica" pitchFamily="2" charset="0"/>
              </a:rPr>
              <a:t>ABSTRACT</a:t>
            </a:r>
            <a:endParaRPr lang="en-ID" sz="5400" b="1" spc="600" dirty="0">
              <a:solidFill>
                <a:schemeClr val="bg1"/>
              </a:solidFill>
              <a:effectLst>
                <a:outerShdw blurRad="101600" dist="63500" dir="5400000" algn="t" rotWithShape="0">
                  <a:prstClr val="black">
                    <a:alpha val="70000"/>
                  </a:prstClr>
                </a:outerShdw>
              </a:effectLst>
              <a:latin typeface="Helvetica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9A85AA-1729-2828-33CB-706A18BC816C}"/>
              </a:ext>
            </a:extLst>
          </p:cNvPr>
          <p:cNvSpPr txBox="1"/>
          <p:nvPr/>
        </p:nvSpPr>
        <p:spPr>
          <a:xfrm>
            <a:off x="0" y="1416282"/>
            <a:ext cx="12192000" cy="83099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PK" sz="4800" b="1" u="sng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Sindh </a:t>
            </a:r>
            <a:r>
              <a:rPr lang="en-PK" sz="4800" b="1" u="sng" dirty="0" err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Madressatul</a:t>
            </a:r>
            <a:r>
              <a:rPr lang="en-PK" sz="4800" b="1" u="sng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Islam</a:t>
            </a:r>
            <a:r>
              <a:rPr lang="en-US" sz="4800" b="1" u="sng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PK" sz="4800" b="1" u="sng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University</a:t>
            </a:r>
            <a:endParaRPr lang="en-ID" sz="4800" b="1" u="sng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2D2269-D628-E48D-8B6B-878233B035EE}"/>
              </a:ext>
            </a:extLst>
          </p:cNvPr>
          <p:cNvSpPr/>
          <p:nvPr/>
        </p:nvSpPr>
        <p:spPr>
          <a:xfrm>
            <a:off x="0" y="6317777"/>
            <a:ext cx="2565779" cy="54022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789EED-EFC2-7964-2E2B-C141EBEA8A73}"/>
              </a:ext>
            </a:extLst>
          </p:cNvPr>
          <p:cNvSpPr txBox="1"/>
          <p:nvPr/>
        </p:nvSpPr>
        <p:spPr>
          <a:xfrm>
            <a:off x="9626221" y="5808766"/>
            <a:ext cx="2565779" cy="1015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D" sz="1200" b="1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Prepared By :</a:t>
            </a:r>
          </a:p>
          <a:p>
            <a:pPr algn="ctr"/>
            <a:r>
              <a:rPr lang="en-ID" sz="1200" b="1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Okasha Nadeem</a:t>
            </a:r>
          </a:p>
          <a:p>
            <a:pPr algn="ctr"/>
            <a:r>
              <a:rPr lang="en-ID" sz="1200" b="1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Muhammad Yahya Alvi</a:t>
            </a:r>
          </a:p>
          <a:p>
            <a:pPr algn="ctr"/>
            <a:r>
              <a:rPr lang="en-ID" sz="1200" b="1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Muhammad Tabish </a:t>
            </a:r>
          </a:p>
          <a:p>
            <a:pPr algn="ctr"/>
            <a:r>
              <a:rPr lang="en-ID" sz="1200" b="1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Syed Muhammad Sarim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EB976F-266A-7742-58DD-7E0C6DDCADF8}"/>
              </a:ext>
            </a:extLst>
          </p:cNvPr>
          <p:cNvSpPr txBox="1"/>
          <p:nvPr/>
        </p:nvSpPr>
        <p:spPr>
          <a:xfrm>
            <a:off x="214692" y="6362764"/>
            <a:ext cx="2136395" cy="461665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D" sz="1200" b="1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Prepared For:</a:t>
            </a:r>
          </a:p>
          <a:p>
            <a:pPr algn="ctr"/>
            <a:r>
              <a:rPr lang="en-ID" sz="1200" b="1" i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Miss. Iqra</a:t>
            </a:r>
            <a:endParaRPr lang="en-ID" sz="1200" b="1" i="1" dirty="0">
              <a:solidFill>
                <a:schemeClr val="bg1"/>
              </a:solidFill>
              <a:effectLst/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3C56C06-D1E9-A97A-533B-93A85AC8767E}"/>
              </a:ext>
            </a:extLst>
          </p:cNvPr>
          <p:cNvSpPr/>
          <p:nvPr/>
        </p:nvSpPr>
        <p:spPr>
          <a:xfrm>
            <a:off x="10079567" y="2523310"/>
            <a:ext cx="1769089" cy="1811382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12BA28C-14EF-BC8D-D794-8048B0B61077}"/>
              </a:ext>
            </a:extLst>
          </p:cNvPr>
          <p:cNvSpPr/>
          <p:nvPr/>
        </p:nvSpPr>
        <p:spPr>
          <a:xfrm>
            <a:off x="283408" y="2523309"/>
            <a:ext cx="1811382" cy="1811382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62471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515">
        <p159:morph option="byObject"/>
      </p:transition>
    </mc:Choice>
    <mc:Fallback xmlns="">
      <p:transition spd="slow" advTm="1515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3D8558FB-F47E-9BE9-2E57-2645E5DC9A48}"/>
              </a:ext>
            </a:extLst>
          </p:cNvPr>
          <p:cNvSpPr/>
          <p:nvPr/>
        </p:nvSpPr>
        <p:spPr>
          <a:xfrm rot="5400000">
            <a:off x="-3041825" y="-113194"/>
            <a:ext cx="6835474" cy="708438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90500" dist="635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A4D763-667F-92E0-7889-2BC7463AA435}"/>
              </a:ext>
            </a:extLst>
          </p:cNvPr>
          <p:cNvSpPr txBox="1"/>
          <p:nvPr/>
        </p:nvSpPr>
        <p:spPr>
          <a:xfrm>
            <a:off x="177423" y="1170688"/>
            <a:ext cx="1015663" cy="4516621"/>
          </a:xfrm>
          <a:prstGeom prst="rect">
            <a:avLst/>
          </a:prstGeom>
          <a:noFill/>
          <a:ln>
            <a:noFill/>
          </a:ln>
        </p:spPr>
        <p:txBody>
          <a:bodyPr vert="vert270" wrap="none" rtlCol="0">
            <a:spAutoFit/>
          </a:bodyPr>
          <a:lstStyle/>
          <a:p>
            <a:pPr algn="ctr"/>
            <a:r>
              <a:rPr lang="en-US" sz="5400" b="1" spc="600" dirty="0">
                <a:solidFill>
                  <a:schemeClr val="bg1"/>
                </a:solidFill>
                <a:effectLst>
                  <a:outerShdw blurRad="101600" dist="63500" dir="5400000" algn="t" rotWithShape="0">
                    <a:prstClr val="black">
                      <a:alpha val="70000"/>
                    </a:prstClr>
                  </a:outerShdw>
                </a:effectLst>
                <a:latin typeface="Helvetica" pitchFamily="2" charset="0"/>
              </a:rPr>
              <a:t>ABSTRACT</a:t>
            </a:r>
            <a:endParaRPr lang="en-ID" sz="5400" b="1" spc="600" dirty="0">
              <a:solidFill>
                <a:schemeClr val="bg1"/>
              </a:solidFill>
              <a:effectLst>
                <a:outerShdw blurRad="101600" dist="63500" dir="5400000" algn="t" rotWithShape="0">
                  <a:prstClr val="black">
                    <a:alpha val="70000"/>
                  </a:prstClr>
                </a:outerShdw>
              </a:effectLst>
              <a:latin typeface="Helvetica" pitchFamily="2" charset="0"/>
            </a:endParaRPr>
          </a:p>
        </p:txBody>
      </p:sp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CB313F5D-9314-E9FC-A191-2E7E0387341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3" r="2733"/>
          <a:stretch/>
        </p:blipFill>
        <p:spPr>
          <a:xfrm>
            <a:off x="1318653" y="938283"/>
            <a:ext cx="3357349" cy="4981433"/>
          </a:xfrm>
          <a:solidFill>
            <a:schemeClr val="bg2">
              <a:lumMod val="50000"/>
            </a:schemeClr>
          </a:solidFill>
          <a:ln w="38100">
            <a:solidFill>
              <a:schemeClr val="bg1"/>
            </a:solidFill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95F248F-451D-C38A-7E21-7CB6E4DC7505}"/>
              </a:ext>
            </a:extLst>
          </p:cNvPr>
          <p:cNvSpPr txBox="1"/>
          <p:nvPr/>
        </p:nvSpPr>
        <p:spPr>
          <a:xfrm>
            <a:off x="5923130" y="1148216"/>
            <a:ext cx="5566505" cy="4524315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PK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project is a console-based Attendance Management System developed in C.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PK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It helps to register students and mark their attendance.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PK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Attendance is marked as Present or Absent with a date.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PK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Users can view all students and individual attendance records.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PK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project uses basic C programming concepts and stores data in memory.</a:t>
            </a:r>
          </a:p>
          <a:p>
            <a:r>
              <a:rPr lang="en-US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169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652">
        <p159:morph option="byObject"/>
      </p:transition>
    </mc:Choice>
    <mc:Fallback xmlns="">
      <p:transition spd="slow" advTm="1652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646959F4-38E9-BAD9-E55F-7AE96C622C75}"/>
              </a:ext>
            </a:extLst>
          </p:cNvPr>
          <p:cNvSpPr/>
          <p:nvPr/>
        </p:nvSpPr>
        <p:spPr>
          <a:xfrm flipH="1">
            <a:off x="4154799" y="5595310"/>
            <a:ext cx="3882404" cy="1262689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 dirty="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72E9C899-0121-B172-6F2A-1DC78D6E8637}"/>
              </a:ext>
            </a:extLst>
          </p:cNvPr>
          <p:cNvSpPr/>
          <p:nvPr/>
        </p:nvSpPr>
        <p:spPr>
          <a:xfrm flipH="1">
            <a:off x="4154799" y="414706"/>
            <a:ext cx="3882404" cy="1262689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A40D84B9-A14D-C1B1-484E-E43D159E3133}"/>
              </a:ext>
            </a:extLst>
          </p:cNvPr>
          <p:cNvSpPr/>
          <p:nvPr/>
        </p:nvSpPr>
        <p:spPr>
          <a:xfrm flipH="1">
            <a:off x="12406745" y="0"/>
            <a:ext cx="3979572" cy="6858000"/>
          </a:xfrm>
          <a:prstGeom prst="chevron">
            <a:avLst>
              <a:gd name="adj" fmla="val 37679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90500" dist="635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DF8ADB-1D09-4BA2-9F3D-0D3DB274C63D}"/>
              </a:ext>
            </a:extLst>
          </p:cNvPr>
          <p:cNvCxnSpPr>
            <a:cxnSpLocks/>
          </p:cNvCxnSpPr>
          <p:nvPr/>
        </p:nvCxnSpPr>
        <p:spPr>
          <a:xfrm flipV="1">
            <a:off x="12500574" y="3886618"/>
            <a:ext cx="1488703" cy="1"/>
          </a:xfrm>
          <a:prstGeom prst="line">
            <a:avLst/>
          </a:prstGeom>
          <a:ln w="190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2135AE0-D787-13D5-44DF-EF6DC0F4D906}"/>
              </a:ext>
            </a:extLst>
          </p:cNvPr>
          <p:cNvSpPr/>
          <p:nvPr/>
        </p:nvSpPr>
        <p:spPr>
          <a:xfrm>
            <a:off x="-4194317" y="0"/>
            <a:ext cx="3979572" cy="6858000"/>
          </a:xfrm>
          <a:prstGeom prst="chevron">
            <a:avLst>
              <a:gd name="adj" fmla="val 37679"/>
            </a:avLst>
          </a:prstGeom>
          <a:solidFill>
            <a:schemeClr val="bg2">
              <a:lumMod val="25000"/>
            </a:schemeClr>
          </a:solidFill>
          <a:ln>
            <a:noFill/>
          </a:ln>
          <a:effectLst>
            <a:outerShdw blurRad="190500" dist="635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2A1B505-93F4-9899-7ECE-11EC69EA099B}"/>
              </a:ext>
            </a:extLst>
          </p:cNvPr>
          <p:cNvCxnSpPr>
            <a:cxnSpLocks/>
          </p:cNvCxnSpPr>
          <p:nvPr/>
        </p:nvCxnSpPr>
        <p:spPr>
          <a:xfrm>
            <a:off x="-1797276" y="2971381"/>
            <a:ext cx="1455284" cy="0"/>
          </a:xfrm>
          <a:prstGeom prst="line">
            <a:avLst/>
          </a:prstGeom>
          <a:ln w="190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BB0992BF-1A88-358C-6BF9-888773EFE8FC}"/>
              </a:ext>
            </a:extLst>
          </p:cNvPr>
          <p:cNvGrpSpPr/>
          <p:nvPr/>
        </p:nvGrpSpPr>
        <p:grpSpPr>
          <a:xfrm>
            <a:off x="765797" y="1638300"/>
            <a:ext cx="3882404" cy="1262689"/>
            <a:chOff x="1848817" y="3276600"/>
            <a:chExt cx="7764807" cy="2525378"/>
          </a:xfrm>
          <a:solidFill>
            <a:schemeClr val="bg2">
              <a:lumMod val="25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45A623A-730E-B8E8-C044-F64C26AD3764}"/>
                </a:ext>
              </a:extLst>
            </p:cNvPr>
            <p:cNvSpPr/>
            <p:nvPr/>
          </p:nvSpPr>
          <p:spPr>
            <a:xfrm>
              <a:off x="1848817" y="3276600"/>
              <a:ext cx="7764807" cy="2525378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EE7941C-F77E-F24B-8841-D015FB0EEC5A}"/>
                </a:ext>
              </a:extLst>
            </p:cNvPr>
            <p:cNvSpPr txBox="1"/>
            <p:nvPr/>
          </p:nvSpPr>
          <p:spPr>
            <a:xfrm>
              <a:off x="3029043" y="4065910"/>
              <a:ext cx="3973255" cy="95744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 defTabSz="913607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2800" baseline="30000" dirty="0">
                  <a:solidFill>
                    <a:schemeClr val="bg1"/>
                  </a:solidFill>
                  <a:latin typeface="+mj-lt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Project Overview</a:t>
              </a:r>
              <a:endParaRPr lang="en-PK" sz="2800" baseline="30000" dirty="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C484A07-F8BF-F52F-B464-0EF26BC2C6CA}"/>
              </a:ext>
            </a:extLst>
          </p:cNvPr>
          <p:cNvSpPr/>
          <p:nvPr/>
        </p:nvSpPr>
        <p:spPr>
          <a:xfrm>
            <a:off x="765797" y="4564153"/>
            <a:ext cx="3882404" cy="1262689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48C5DD7-3CB9-6CF8-2B05-A73DE38C118F}"/>
              </a:ext>
            </a:extLst>
          </p:cNvPr>
          <p:cNvSpPr/>
          <p:nvPr/>
        </p:nvSpPr>
        <p:spPr>
          <a:xfrm flipH="1">
            <a:off x="7543800" y="1638300"/>
            <a:ext cx="3882404" cy="1262689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24B7CA-EA0D-45C9-D0C7-89F43D6F9F85}"/>
              </a:ext>
            </a:extLst>
          </p:cNvPr>
          <p:cNvSpPr/>
          <p:nvPr/>
        </p:nvSpPr>
        <p:spPr>
          <a:xfrm flipH="1">
            <a:off x="7543800" y="4564153"/>
            <a:ext cx="3882404" cy="1262689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AACE6B0-260D-C7F0-085B-66EA6A8FD21C}"/>
              </a:ext>
            </a:extLst>
          </p:cNvPr>
          <p:cNvSpPr/>
          <p:nvPr/>
        </p:nvSpPr>
        <p:spPr>
          <a:xfrm>
            <a:off x="342900" y="3101227"/>
            <a:ext cx="3882404" cy="1262689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486F0B2-9C88-DF67-620D-CA23294E6317}"/>
              </a:ext>
            </a:extLst>
          </p:cNvPr>
          <p:cNvSpPr/>
          <p:nvPr/>
        </p:nvSpPr>
        <p:spPr>
          <a:xfrm flipH="1">
            <a:off x="7928597" y="3101227"/>
            <a:ext cx="3882404" cy="1262689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14CD2E1-26D8-0B9E-A04A-F6E1B497D4BF}"/>
              </a:ext>
            </a:extLst>
          </p:cNvPr>
          <p:cNvGrpSpPr/>
          <p:nvPr/>
        </p:nvGrpSpPr>
        <p:grpSpPr>
          <a:xfrm>
            <a:off x="4658685" y="2286000"/>
            <a:ext cx="2874631" cy="2886670"/>
            <a:chOff x="1735980" y="4309467"/>
            <a:chExt cx="5749262" cy="5773340"/>
          </a:xfrm>
        </p:grpSpPr>
        <p:sp>
          <p:nvSpPr>
            <p:cNvPr id="26" name="Oval 5">
              <a:extLst>
                <a:ext uri="{FF2B5EF4-FFF2-40B4-BE49-F238E27FC236}">
                  <a16:creationId xmlns:a16="http://schemas.microsoft.com/office/drawing/2014/main" id="{5E715904-2114-1AFF-6E65-FC0B0E082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5980" y="4309467"/>
              <a:ext cx="5749262" cy="577334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  <a:effectLst>
              <a:outerShdw blurRad="558800" sx="102000" sy="102000" algn="ctr" rotWithShape="0">
                <a:prstClr val="black">
                  <a:alpha val="18000"/>
                </a:prstClr>
              </a:outerShdw>
            </a:effectLst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ru-RU" sz="90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D2E194E-799F-FC18-7F3F-E764DE168F1F}"/>
                </a:ext>
              </a:extLst>
            </p:cNvPr>
            <p:cNvSpPr txBox="1"/>
            <p:nvPr/>
          </p:nvSpPr>
          <p:spPr>
            <a:xfrm>
              <a:off x="2249824" y="5888749"/>
              <a:ext cx="5105612" cy="2514278"/>
            </a:xfrm>
            <a:prstGeom prst="rect">
              <a:avLst/>
            </a:prstGeom>
            <a:noFill/>
            <a:ln w="76200">
              <a:noFill/>
            </a:ln>
          </p:spPr>
          <p:txBody>
            <a:bodyPr wrap="square" rtlCol="0">
              <a:spAutoFit/>
            </a:bodyPr>
            <a:lstStyle/>
            <a:p>
              <a:pPr algn="ctr" defTabSz="913607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ru-RU" sz="4000" b="1" spc="600" dirty="0">
                  <a:solidFill>
                    <a:schemeClr val="bg2">
                      <a:lumMod val="25000"/>
                    </a:schemeClr>
                  </a:solidFill>
                  <a:effectLst>
                    <a:outerShdw blurRad="101600" dist="63500" dir="5400000" algn="t" rotWithShape="0">
                      <a:prstClr val="black">
                        <a:alpha val="70000"/>
                      </a:prstClr>
                    </a:outerShdw>
                  </a:effectLst>
                  <a:latin typeface="Helvetica" pitchFamily="2" charset="0"/>
                </a:rPr>
                <a:t>TOPICS</a:t>
              </a:r>
            </a:p>
            <a:p>
              <a:pPr algn="ctr" defTabSz="913607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750" baseline="30000" dirty="0">
                <a:solidFill>
                  <a:srgbClr val="0B421A"/>
                </a:solidFill>
                <a:ea typeface="Roboto Cn" pitchFamily="2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E5014BA-B481-936B-52BD-3997C2728A6A}"/>
              </a:ext>
            </a:extLst>
          </p:cNvPr>
          <p:cNvGrpSpPr/>
          <p:nvPr/>
        </p:nvGrpSpPr>
        <p:grpSpPr>
          <a:xfrm>
            <a:off x="3458249" y="1751988"/>
            <a:ext cx="1035314" cy="1035315"/>
            <a:chOff x="7233722" y="3503975"/>
            <a:chExt cx="2070628" cy="2070629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3A10D361-9F19-7EB4-4C53-6299D350E9EC}"/>
                </a:ext>
              </a:extLst>
            </p:cNvPr>
            <p:cNvSpPr/>
            <p:nvPr/>
          </p:nvSpPr>
          <p:spPr>
            <a:xfrm>
              <a:off x="7233722" y="3503975"/>
              <a:ext cx="2070628" cy="20706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sx="102000" sy="102000" algn="ctr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264E1BA-4E7D-ECA6-A858-16EC36136DBE}"/>
                </a:ext>
              </a:extLst>
            </p:cNvPr>
            <p:cNvSpPr/>
            <p:nvPr/>
          </p:nvSpPr>
          <p:spPr>
            <a:xfrm>
              <a:off x="7409388" y="3679641"/>
              <a:ext cx="1719299" cy="171929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DA0E7A1-9B16-49E0-DD9A-A8BB7C66D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0894" y="4167189"/>
              <a:ext cx="121617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9pPr>
            </a:lstStyle>
            <a:p>
              <a:pPr defTabSz="913607" eaLnBrk="0" fontAlgn="base" hangingPunct="0">
                <a:lnSpc>
                  <a:spcPct val="80000"/>
                </a:lnSpc>
                <a:spcAft>
                  <a:spcPct val="0"/>
                </a:spcAft>
                <a:defRPr/>
              </a:pPr>
              <a:r>
                <a:rPr lang="en-US" altLang="ru-RU" sz="30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01.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D1D5BD5-C225-BA57-8424-669A0E79F52C}"/>
              </a:ext>
            </a:extLst>
          </p:cNvPr>
          <p:cNvGrpSpPr/>
          <p:nvPr/>
        </p:nvGrpSpPr>
        <p:grpSpPr>
          <a:xfrm>
            <a:off x="7701347" y="1751988"/>
            <a:ext cx="1035314" cy="1035315"/>
            <a:chOff x="15050366" y="3503975"/>
            <a:chExt cx="2070628" cy="2070629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3128582D-50A1-0770-2767-B8D7514C8827}"/>
                </a:ext>
              </a:extLst>
            </p:cNvPr>
            <p:cNvSpPr/>
            <p:nvPr/>
          </p:nvSpPr>
          <p:spPr>
            <a:xfrm>
              <a:off x="15050366" y="3503975"/>
              <a:ext cx="2070628" cy="20706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sx="102000" sy="102000" algn="ctr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C8AA20E-3C96-855B-74CF-13354D43E1F3}"/>
                </a:ext>
              </a:extLst>
            </p:cNvPr>
            <p:cNvSpPr/>
            <p:nvPr/>
          </p:nvSpPr>
          <p:spPr>
            <a:xfrm>
              <a:off x="15226032" y="3679641"/>
              <a:ext cx="1719299" cy="171929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8716502-1BE0-E881-5E26-C41B19F87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47538" y="4167189"/>
              <a:ext cx="121617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9pPr>
            </a:lstStyle>
            <a:p>
              <a:pPr defTabSz="913607" eaLnBrk="0" fontAlgn="base" hangingPunct="0">
                <a:lnSpc>
                  <a:spcPct val="80000"/>
                </a:lnSpc>
                <a:spcAft>
                  <a:spcPct val="0"/>
                </a:spcAft>
                <a:defRPr/>
              </a:pPr>
              <a:r>
                <a:rPr lang="en-US" altLang="ru-RU" sz="30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08.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FA10BEC-0A22-4E5C-7CCA-E9B23488EEC8}"/>
              </a:ext>
            </a:extLst>
          </p:cNvPr>
          <p:cNvGrpSpPr/>
          <p:nvPr/>
        </p:nvGrpSpPr>
        <p:grpSpPr>
          <a:xfrm>
            <a:off x="3043952" y="3214914"/>
            <a:ext cx="1035314" cy="1035315"/>
            <a:chOff x="6084728" y="6429828"/>
            <a:chExt cx="2070628" cy="2070629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EDDE6D9-C327-6C8B-1888-BF439A7ACEAF}"/>
                </a:ext>
              </a:extLst>
            </p:cNvPr>
            <p:cNvSpPr/>
            <p:nvPr/>
          </p:nvSpPr>
          <p:spPr>
            <a:xfrm>
              <a:off x="6084728" y="6429828"/>
              <a:ext cx="2070628" cy="20706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sx="102000" sy="102000" algn="ctr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F2F63CB-995F-17D1-E10D-201C00ADD5F8}"/>
                </a:ext>
              </a:extLst>
            </p:cNvPr>
            <p:cNvSpPr/>
            <p:nvPr/>
          </p:nvSpPr>
          <p:spPr>
            <a:xfrm>
              <a:off x="6260394" y="6605494"/>
              <a:ext cx="1719299" cy="171929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37210B5-71E5-94F5-3C06-FDD427A09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81900" y="7093042"/>
              <a:ext cx="121617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9pPr>
            </a:lstStyle>
            <a:p>
              <a:pPr defTabSz="913607" eaLnBrk="0" fontAlgn="base" hangingPunct="0">
                <a:lnSpc>
                  <a:spcPct val="80000"/>
                </a:lnSpc>
                <a:spcAft>
                  <a:spcPct val="0"/>
                </a:spcAft>
                <a:defRPr/>
              </a:pPr>
              <a:r>
                <a:rPr lang="en-US" altLang="ru-RU" sz="30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02.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3E570BD-0977-51A6-8D32-C8449B996C0E}"/>
              </a:ext>
            </a:extLst>
          </p:cNvPr>
          <p:cNvGrpSpPr/>
          <p:nvPr/>
        </p:nvGrpSpPr>
        <p:grpSpPr>
          <a:xfrm>
            <a:off x="3458249" y="4677841"/>
            <a:ext cx="1035314" cy="1035315"/>
            <a:chOff x="7233722" y="9355681"/>
            <a:chExt cx="2070628" cy="2070629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7C87B5B-D980-5753-94AC-D354DA2B3189}"/>
                </a:ext>
              </a:extLst>
            </p:cNvPr>
            <p:cNvSpPr/>
            <p:nvPr/>
          </p:nvSpPr>
          <p:spPr>
            <a:xfrm>
              <a:off x="7233722" y="9355681"/>
              <a:ext cx="2070628" cy="20706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sx="102000" sy="102000" algn="ctr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94DEAF3F-8D91-3AA9-77EF-547FFF77192E}"/>
                </a:ext>
              </a:extLst>
            </p:cNvPr>
            <p:cNvSpPr/>
            <p:nvPr/>
          </p:nvSpPr>
          <p:spPr>
            <a:xfrm>
              <a:off x="7409388" y="9531347"/>
              <a:ext cx="1719299" cy="171929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A9CDEB0-3C63-259B-44AA-656D2AAA6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0894" y="10018895"/>
              <a:ext cx="121617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9pPr>
            </a:lstStyle>
            <a:p>
              <a:pPr defTabSz="913607" eaLnBrk="0" fontAlgn="base" hangingPunct="0">
                <a:lnSpc>
                  <a:spcPct val="80000"/>
                </a:lnSpc>
                <a:spcAft>
                  <a:spcPct val="0"/>
                </a:spcAft>
                <a:defRPr/>
              </a:pPr>
              <a:r>
                <a:rPr lang="en-US" altLang="ru-RU" sz="30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03.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89BA25D-EAD5-8083-F4D4-6B53DF4B29FD}"/>
              </a:ext>
            </a:extLst>
          </p:cNvPr>
          <p:cNvGrpSpPr/>
          <p:nvPr/>
        </p:nvGrpSpPr>
        <p:grpSpPr>
          <a:xfrm>
            <a:off x="8058403" y="3214914"/>
            <a:ext cx="1035314" cy="1035315"/>
            <a:chOff x="16113631" y="6429828"/>
            <a:chExt cx="2070628" cy="2070629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132798F-D741-CBE6-56CE-52A6B44F0CC1}"/>
                </a:ext>
              </a:extLst>
            </p:cNvPr>
            <p:cNvSpPr/>
            <p:nvPr/>
          </p:nvSpPr>
          <p:spPr>
            <a:xfrm>
              <a:off x="16113631" y="6429828"/>
              <a:ext cx="2070628" cy="20706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sx="102000" sy="102000" algn="ctr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7DF4D4C-A9CE-A5DE-1054-6CAE9093F43F}"/>
                </a:ext>
              </a:extLst>
            </p:cNvPr>
            <p:cNvSpPr/>
            <p:nvPr/>
          </p:nvSpPr>
          <p:spPr>
            <a:xfrm>
              <a:off x="16289297" y="6605494"/>
              <a:ext cx="1719299" cy="171929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FAB5BCF-22F0-8CE1-BAC2-9F61EC9716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10803" y="7093042"/>
              <a:ext cx="121617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9pPr>
            </a:lstStyle>
            <a:p>
              <a:pPr defTabSz="913607" eaLnBrk="0" fontAlgn="base" hangingPunct="0">
                <a:lnSpc>
                  <a:spcPct val="80000"/>
                </a:lnSpc>
                <a:spcAft>
                  <a:spcPct val="0"/>
                </a:spcAft>
                <a:defRPr/>
              </a:pPr>
              <a:r>
                <a:rPr lang="en-US" altLang="ru-RU" sz="30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07.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D71F15F-BC99-526E-46B7-E1EF38298111}"/>
              </a:ext>
            </a:extLst>
          </p:cNvPr>
          <p:cNvGrpSpPr/>
          <p:nvPr/>
        </p:nvGrpSpPr>
        <p:grpSpPr>
          <a:xfrm>
            <a:off x="7671851" y="4677841"/>
            <a:ext cx="1035314" cy="1035315"/>
            <a:chOff x="14991374" y="9355681"/>
            <a:chExt cx="2070628" cy="2070629"/>
          </a:xfrm>
        </p:grpSpPr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E81E135-B356-0DD9-B0D1-8AC1926807C9}"/>
                </a:ext>
              </a:extLst>
            </p:cNvPr>
            <p:cNvSpPr/>
            <p:nvPr/>
          </p:nvSpPr>
          <p:spPr>
            <a:xfrm>
              <a:off x="14991374" y="9355681"/>
              <a:ext cx="2070628" cy="20706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sx="102000" sy="102000" algn="ctr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1B8131B0-282F-C585-9179-6BA1393932D8}"/>
                </a:ext>
              </a:extLst>
            </p:cNvPr>
            <p:cNvSpPr/>
            <p:nvPr/>
          </p:nvSpPr>
          <p:spPr>
            <a:xfrm>
              <a:off x="15167040" y="9531347"/>
              <a:ext cx="1719299" cy="171929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65F58EA-5256-05BB-7F62-56E260E5A9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88546" y="10018895"/>
              <a:ext cx="121617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9pPr>
            </a:lstStyle>
            <a:p>
              <a:pPr defTabSz="913607" eaLnBrk="0" fontAlgn="base" hangingPunct="0">
                <a:lnSpc>
                  <a:spcPct val="80000"/>
                </a:lnSpc>
                <a:spcAft>
                  <a:spcPct val="0"/>
                </a:spcAft>
                <a:defRPr/>
              </a:pPr>
              <a:r>
                <a:rPr lang="en-US" altLang="ru-RU" sz="30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06.</a:t>
              </a:r>
            </a:p>
          </p:txBody>
        </p:sp>
      </p:grp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02386FF-9507-83EE-76AE-16F9561105D5}"/>
              </a:ext>
            </a:extLst>
          </p:cNvPr>
          <p:cNvCxnSpPr>
            <a:cxnSpLocks/>
          </p:cNvCxnSpPr>
          <p:nvPr/>
        </p:nvCxnSpPr>
        <p:spPr>
          <a:xfrm>
            <a:off x="4437710" y="2550251"/>
            <a:ext cx="431465" cy="43909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84B456F-793C-DA07-4FA8-CB7D39BD26C8}"/>
              </a:ext>
            </a:extLst>
          </p:cNvPr>
          <p:cNvCxnSpPr>
            <a:cxnSpLocks/>
          </p:cNvCxnSpPr>
          <p:nvPr/>
        </p:nvCxnSpPr>
        <p:spPr>
          <a:xfrm>
            <a:off x="7315200" y="4515831"/>
            <a:ext cx="406160" cy="32287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506787C-2147-CE6D-EE52-1E996934505C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4120078" y="3713389"/>
            <a:ext cx="538607" cy="1594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759C961-C775-8FB9-E980-6141D0B6578C}"/>
              </a:ext>
            </a:extLst>
          </p:cNvPr>
          <p:cNvCxnSpPr>
            <a:cxnSpLocks/>
            <a:stCxn id="26" idx="6"/>
          </p:cNvCxnSpPr>
          <p:nvPr/>
        </p:nvCxnSpPr>
        <p:spPr>
          <a:xfrm>
            <a:off x="7533316" y="3729335"/>
            <a:ext cx="484275" cy="11968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519A750-8134-B049-6621-8013567BD16C}"/>
              </a:ext>
            </a:extLst>
          </p:cNvPr>
          <p:cNvCxnSpPr>
            <a:cxnSpLocks/>
          </p:cNvCxnSpPr>
          <p:nvPr/>
        </p:nvCxnSpPr>
        <p:spPr>
          <a:xfrm flipV="1">
            <a:off x="7363431" y="2659562"/>
            <a:ext cx="434141" cy="377428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023470A2-B98F-CD98-35F3-793A3C36F895}"/>
              </a:ext>
            </a:extLst>
          </p:cNvPr>
          <p:cNvCxnSpPr>
            <a:cxnSpLocks/>
          </p:cNvCxnSpPr>
          <p:nvPr/>
        </p:nvCxnSpPr>
        <p:spPr>
          <a:xfrm flipV="1">
            <a:off x="4429202" y="4515831"/>
            <a:ext cx="434730" cy="3541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AB90E219-806E-1C37-1F58-52382061449E}"/>
              </a:ext>
            </a:extLst>
          </p:cNvPr>
          <p:cNvSpPr/>
          <p:nvPr/>
        </p:nvSpPr>
        <p:spPr>
          <a:xfrm rot="5400000" flipH="1" flipV="1">
            <a:off x="8674102" y="3340098"/>
            <a:ext cx="6858000" cy="177801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67BC1E3-91CD-21A1-034F-BCAFE05B726B}"/>
              </a:ext>
            </a:extLst>
          </p:cNvPr>
          <p:cNvSpPr/>
          <p:nvPr/>
        </p:nvSpPr>
        <p:spPr>
          <a:xfrm rot="5400000" flipH="1" flipV="1">
            <a:off x="-3355469" y="3355469"/>
            <a:ext cx="6888745" cy="177803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900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70D6C6E-107A-B15B-2066-EEF5E089EADA}"/>
              </a:ext>
            </a:extLst>
          </p:cNvPr>
          <p:cNvCxnSpPr>
            <a:cxnSpLocks/>
            <a:stCxn id="63" idx="0"/>
            <a:endCxn id="26" idx="4"/>
          </p:cNvCxnSpPr>
          <p:nvPr/>
        </p:nvCxnSpPr>
        <p:spPr>
          <a:xfrm flipV="1">
            <a:off x="6088201" y="5172670"/>
            <a:ext cx="7800" cy="53393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B373666-B64C-11CE-1445-F165A70923D1}"/>
              </a:ext>
            </a:extLst>
          </p:cNvPr>
          <p:cNvGrpSpPr/>
          <p:nvPr/>
        </p:nvGrpSpPr>
        <p:grpSpPr>
          <a:xfrm>
            <a:off x="5570544" y="5706604"/>
            <a:ext cx="1079229" cy="1035315"/>
            <a:chOff x="7233722" y="9355681"/>
            <a:chExt cx="2158458" cy="2070629"/>
          </a:xfrm>
        </p:grpSpPr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7B66B5C-0F23-6B34-CEBC-9CF388D1EDCE}"/>
                </a:ext>
              </a:extLst>
            </p:cNvPr>
            <p:cNvSpPr/>
            <p:nvPr/>
          </p:nvSpPr>
          <p:spPr>
            <a:xfrm>
              <a:off x="7233722" y="9355681"/>
              <a:ext cx="2070628" cy="20706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sx="102000" sy="102000" algn="ctr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284A415-1BF3-4887-9556-D2D9BCEE74FC}"/>
                </a:ext>
              </a:extLst>
            </p:cNvPr>
            <p:cNvSpPr/>
            <p:nvPr/>
          </p:nvSpPr>
          <p:spPr>
            <a:xfrm>
              <a:off x="7409388" y="9531347"/>
              <a:ext cx="1719299" cy="171929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3D99973-13BA-5D09-2CA3-F11E482B0B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4490" y="10002799"/>
              <a:ext cx="196769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9pPr>
            </a:lstStyle>
            <a:p>
              <a:pPr defTabSz="913607" eaLnBrk="0" fontAlgn="base" hangingPunct="0">
                <a:lnSpc>
                  <a:spcPct val="80000"/>
                </a:lnSpc>
                <a:spcAft>
                  <a:spcPct val="0"/>
                </a:spcAft>
                <a:defRPr/>
              </a:pPr>
              <a:r>
                <a:rPr lang="en-US" altLang="ru-RU" sz="30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04,05</a:t>
              </a:r>
            </a:p>
          </p:txBody>
        </p:sp>
      </p:grp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54A0D2EE-2EF7-784A-1FB9-E58675EC11AE}"/>
              </a:ext>
            </a:extLst>
          </p:cNvPr>
          <p:cNvCxnSpPr>
            <a:cxnSpLocks/>
            <a:stCxn id="26" idx="0"/>
            <a:endCxn id="73" idx="2"/>
          </p:cNvCxnSpPr>
          <p:nvPr/>
        </p:nvCxnSpPr>
        <p:spPr>
          <a:xfrm flipV="1">
            <a:off x="6096001" y="1677395"/>
            <a:ext cx="0" cy="60860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E64D95C-C3E5-5406-20CB-A23A2B2DEFB4}"/>
              </a:ext>
            </a:extLst>
          </p:cNvPr>
          <p:cNvGrpSpPr/>
          <p:nvPr/>
        </p:nvGrpSpPr>
        <p:grpSpPr>
          <a:xfrm>
            <a:off x="5610435" y="515316"/>
            <a:ext cx="1079229" cy="1035315"/>
            <a:chOff x="7233722" y="9355681"/>
            <a:chExt cx="2158458" cy="2070629"/>
          </a:xfrm>
        </p:grpSpPr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1209774-E911-817C-7FBB-EBA5941ADEDA}"/>
                </a:ext>
              </a:extLst>
            </p:cNvPr>
            <p:cNvSpPr/>
            <p:nvPr/>
          </p:nvSpPr>
          <p:spPr>
            <a:xfrm>
              <a:off x="7233722" y="9355681"/>
              <a:ext cx="2070628" cy="207062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sx="102000" sy="102000" algn="ctr" rotWithShape="0">
                <a:prstClr val="black">
                  <a:alpha val="1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A7C2691-34B4-3887-E4E5-D4CEA98FD231}"/>
                </a:ext>
              </a:extLst>
            </p:cNvPr>
            <p:cNvSpPr/>
            <p:nvPr/>
          </p:nvSpPr>
          <p:spPr>
            <a:xfrm>
              <a:off x="7409388" y="9531347"/>
              <a:ext cx="1719299" cy="1719299"/>
            </a:xfrm>
            <a:prstGeom prst="ellipse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90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CDDD034-207C-45FA-30F7-39FBA6CB61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4490" y="10002799"/>
              <a:ext cx="1967690" cy="969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3600">
                  <a:solidFill>
                    <a:schemeClr val="tx1"/>
                  </a:solidFill>
                  <a:latin typeface="Lato Light" pitchFamily="34" charset="0"/>
                </a:defRPr>
              </a:lvl1pPr>
              <a:lvl2pPr marL="742950" indent="-28575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2pPr>
              <a:lvl3pPr marL="11430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3pPr>
              <a:lvl4pPr marL="16002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4pPr>
              <a:lvl5pPr marL="2057400" indent="-228600">
                <a:defRPr sz="3600">
                  <a:solidFill>
                    <a:schemeClr val="tx1"/>
                  </a:solidFill>
                  <a:latin typeface="Lato Light" pitchFamily="34" charset="0"/>
                </a:defRPr>
              </a:lvl5pPr>
              <a:lvl6pPr marL="25146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6pPr>
              <a:lvl7pPr marL="29718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7pPr>
              <a:lvl8pPr marL="34290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8pPr>
              <a:lvl9pPr marL="3886200" indent="-228600" defTabSz="1827213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pitchFamily="34" charset="0"/>
                </a:defRPr>
              </a:lvl9pPr>
            </a:lstStyle>
            <a:p>
              <a:pPr defTabSz="913607" eaLnBrk="0" fontAlgn="base" hangingPunct="0">
                <a:lnSpc>
                  <a:spcPct val="80000"/>
                </a:lnSpc>
                <a:spcAft>
                  <a:spcPct val="0"/>
                </a:spcAft>
                <a:defRPr/>
              </a:pPr>
              <a:r>
                <a:rPr lang="en-US" altLang="ru-RU" sz="3000" dirty="0">
                  <a:solidFill>
                    <a:schemeClr val="bg1"/>
                  </a:solidFill>
                  <a:latin typeface="Bebas Neue" panose="020B0606020202050201" pitchFamily="34" charset="0"/>
                </a:rPr>
                <a:t>10,09</a:t>
              </a: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ED9010CD-9618-4A8B-905D-317B60F59EC1}"/>
              </a:ext>
            </a:extLst>
          </p:cNvPr>
          <p:cNvSpPr txBox="1"/>
          <p:nvPr/>
        </p:nvSpPr>
        <p:spPr>
          <a:xfrm>
            <a:off x="1011675" y="3552548"/>
            <a:ext cx="1986628" cy="478721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 defTabSz="91360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aseline="30000" dirty="0">
                <a:solidFill>
                  <a:schemeClr val="bg1"/>
                </a:solidFill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Features</a:t>
            </a:r>
            <a:endParaRPr lang="en-PK" sz="2800" baseline="30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62810D1-9A73-7450-B5A9-AF3C0EA6228F}"/>
              </a:ext>
            </a:extLst>
          </p:cNvPr>
          <p:cNvSpPr txBox="1"/>
          <p:nvPr/>
        </p:nvSpPr>
        <p:spPr>
          <a:xfrm>
            <a:off x="1405058" y="4946959"/>
            <a:ext cx="1986628" cy="478721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 defTabSz="91360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aseline="300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baseline="30000" dirty="0">
                <a:solidFill>
                  <a:schemeClr val="bg1"/>
                </a:solidFill>
                <a:latin typeface="+mj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Requirements</a:t>
            </a:r>
            <a:endParaRPr lang="en-PK" sz="2800" baseline="30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EF328CD-052A-3077-923A-4E05956AE25F}"/>
              </a:ext>
            </a:extLst>
          </p:cNvPr>
          <p:cNvSpPr txBox="1"/>
          <p:nvPr/>
        </p:nvSpPr>
        <p:spPr>
          <a:xfrm>
            <a:off x="4207349" y="6014929"/>
            <a:ext cx="1364671" cy="42344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defTabSz="91360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aseline="300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300" baseline="30000" dirty="0">
                <a:solidFill>
                  <a:schemeClr val="bg1"/>
                </a:solidFill>
                <a:latin typeface="+mj-l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Run</a:t>
            </a:r>
            <a:endParaRPr lang="en-PK" sz="2300" baseline="30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3A1557A-3AE8-1B76-9003-1E4C904A8229}"/>
              </a:ext>
            </a:extLst>
          </p:cNvPr>
          <p:cNvSpPr txBox="1"/>
          <p:nvPr/>
        </p:nvSpPr>
        <p:spPr>
          <a:xfrm>
            <a:off x="6645748" y="6050293"/>
            <a:ext cx="1323305" cy="478721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 defTabSz="91360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aseline="300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300" baseline="30000" dirty="0">
                <a:solidFill>
                  <a:schemeClr val="bg1"/>
                </a:solidFill>
                <a:latin typeface="+mj-l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 Flow</a:t>
            </a:r>
            <a:endParaRPr lang="en-PK" sz="2300" baseline="30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269FE11-2C1F-AA20-0059-C12031CAF049}"/>
              </a:ext>
            </a:extLst>
          </p:cNvPr>
          <p:cNvSpPr txBox="1"/>
          <p:nvPr/>
        </p:nvSpPr>
        <p:spPr>
          <a:xfrm>
            <a:off x="8847189" y="5003486"/>
            <a:ext cx="1986628" cy="478721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 defTabSz="91360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aseline="300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baseline="30000" dirty="0">
                <a:solidFill>
                  <a:schemeClr val="bg1"/>
                </a:solidFill>
                <a:latin typeface="+mj-l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Structures</a:t>
            </a:r>
            <a:endParaRPr lang="en-PK" sz="2800" baseline="30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B808496-9FBA-2F4C-6382-3290CA140F36}"/>
              </a:ext>
            </a:extLst>
          </p:cNvPr>
          <p:cNvSpPr txBox="1"/>
          <p:nvPr/>
        </p:nvSpPr>
        <p:spPr>
          <a:xfrm>
            <a:off x="9209159" y="3541451"/>
            <a:ext cx="2088945" cy="478721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 defTabSz="91360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aseline="300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800" baseline="30000" dirty="0">
                <a:solidFill>
                  <a:schemeClr val="bg1"/>
                </a:solidFill>
                <a:latin typeface="+mj-l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Function Summary</a:t>
            </a:r>
            <a:endParaRPr lang="en-PK" sz="2800" baseline="30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C20A815-4B6E-AF24-6432-EA7596E78C81}"/>
              </a:ext>
            </a:extLst>
          </p:cNvPr>
          <p:cNvSpPr txBox="1"/>
          <p:nvPr/>
        </p:nvSpPr>
        <p:spPr>
          <a:xfrm>
            <a:off x="8945028" y="2051658"/>
            <a:ext cx="1557290" cy="478721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defTabSz="91360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aseline="30000" dirty="0">
                <a:solidFill>
                  <a:schemeClr val="bg1"/>
                </a:solidFill>
                <a:latin typeface="+mj-l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Limitations</a:t>
            </a:r>
            <a:endParaRPr lang="en-PK" sz="2800" baseline="30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EA7D84-1ACC-BC82-B4B8-85A1C50265CE}"/>
              </a:ext>
            </a:extLst>
          </p:cNvPr>
          <p:cNvSpPr txBox="1"/>
          <p:nvPr/>
        </p:nvSpPr>
        <p:spPr>
          <a:xfrm>
            <a:off x="6653300" y="672660"/>
            <a:ext cx="1235517" cy="75142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 defTabSz="91360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aseline="300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300" baseline="30000" dirty="0">
                <a:solidFill>
                  <a:schemeClr val="bg1"/>
                </a:solidFill>
                <a:latin typeface="+mj-l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</a:t>
            </a:r>
            <a:r>
              <a:rPr lang="en-US" sz="2200" baseline="30000" dirty="0">
                <a:solidFill>
                  <a:schemeClr val="bg1"/>
                </a:solidFill>
                <a:latin typeface="+mj-l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uture </a:t>
            </a:r>
            <a:r>
              <a:rPr lang="en-US" sz="2100" baseline="30000" dirty="0">
                <a:solidFill>
                  <a:schemeClr val="bg1"/>
                </a:solidFill>
                <a:latin typeface="+mj-l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Improvements</a:t>
            </a:r>
            <a:endParaRPr lang="en-PK" sz="2100" baseline="30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69D804B-A85A-E013-51A1-6489484A4C37}"/>
              </a:ext>
            </a:extLst>
          </p:cNvPr>
          <p:cNvSpPr txBox="1"/>
          <p:nvPr/>
        </p:nvSpPr>
        <p:spPr>
          <a:xfrm>
            <a:off x="4353753" y="843901"/>
            <a:ext cx="1235517" cy="423449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square" rtlCol="0">
            <a:spAutoFit/>
          </a:bodyPr>
          <a:lstStyle/>
          <a:p>
            <a:pPr algn="ctr" defTabSz="913607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400" baseline="300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2200" baseline="30000" dirty="0">
                <a:solidFill>
                  <a:schemeClr val="bg1"/>
                </a:solidFill>
                <a:latin typeface="+mj-lt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Team</a:t>
            </a:r>
            <a:endParaRPr lang="en-PK" sz="2200" baseline="300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21289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9844">
        <p159:morph option="byObject"/>
      </p:transition>
    </mc:Choice>
    <mc:Fallback xmlns="">
      <p:transition spd="slow" advTm="984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25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2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5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2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250"/>
                            </p:stCondLst>
                            <p:childTnLst>
                              <p:par>
                                <p:cTn id="5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750"/>
                            </p:stCondLst>
                            <p:childTnLst>
                              <p:par>
                                <p:cTn id="6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2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7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2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25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500"/>
                            </p:stCondLst>
                            <p:childTnLst>
                              <p:par>
                                <p:cTn id="9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750"/>
                            </p:stCondLst>
                            <p:childTnLst>
                              <p:par>
                                <p:cTn id="9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2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0"/>
                            </p:stCondLst>
                            <p:childTnLst>
                              <p:par>
                                <p:cTn id="10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25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2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6500"/>
                            </p:stCondLst>
                            <p:childTnLst>
                              <p:par>
                                <p:cTn id="10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750"/>
                            </p:stCondLst>
                            <p:childTnLst>
                              <p:par>
                                <p:cTn id="1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2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7250"/>
                            </p:stCondLst>
                            <p:childTnLst>
                              <p:par>
                                <p:cTn id="1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2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7500"/>
                            </p:stCondLst>
                            <p:childTnLst>
                              <p:par>
                                <p:cTn id="1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2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7750"/>
                            </p:stCondLst>
                            <p:childTnLst>
                              <p:par>
                                <p:cTn id="1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2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2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8250"/>
                            </p:stCondLst>
                            <p:childTnLst>
                              <p:par>
                                <p:cTn id="1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8500"/>
                            </p:stCondLst>
                            <p:childTnLst>
                              <p:par>
                                <p:cTn id="1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8750"/>
                            </p:stCondLst>
                            <p:childTnLst>
                              <p:par>
                                <p:cTn id="1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3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59" grpId="0" animBg="1"/>
      <p:bldP spid="60" grpId="0" animBg="1"/>
      <p:bldP spid="77" grpId="0" animBg="1"/>
      <p:bldP spid="78" grpId="0" animBg="1"/>
      <p:bldP spid="80" grpId="0" animBg="1"/>
      <p:bldP spid="81" grpId="0" animBg="1"/>
      <p:bldP spid="84" grpId="0" animBg="1"/>
      <p:bldP spid="85" grpId="0" animBg="1"/>
      <p:bldP spid="86" grpId="0" animBg="1"/>
      <p:bldP spid="87" grpId="0" animBg="1"/>
      <p:bldP spid="8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2">
                <a:lumMod val="50000"/>
              </a:schemeClr>
            </a:gs>
            <a:gs pos="100000">
              <a:srgbClr val="0F5922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row: Chevron 3">
            <a:extLst>
              <a:ext uri="{FF2B5EF4-FFF2-40B4-BE49-F238E27FC236}">
                <a16:creationId xmlns:a16="http://schemas.microsoft.com/office/drawing/2014/main" id="{8BA52E82-D345-E21F-CD11-39EE28E2690C}"/>
              </a:ext>
            </a:extLst>
          </p:cNvPr>
          <p:cNvSpPr/>
          <p:nvPr/>
        </p:nvSpPr>
        <p:spPr>
          <a:xfrm>
            <a:off x="0" y="0"/>
            <a:ext cx="3979572" cy="6858000"/>
          </a:xfrm>
          <a:prstGeom prst="chevron">
            <a:avLst>
              <a:gd name="adj" fmla="val 37679"/>
            </a:avLst>
          </a:prstGeom>
          <a:gradFill>
            <a:gsLst>
              <a:gs pos="100000">
                <a:schemeClr val="bg2">
                  <a:lumMod val="25000"/>
                </a:schemeClr>
              </a:gs>
              <a:gs pos="100000">
                <a:srgbClr val="0F5922">
                  <a:alpha val="70000"/>
                </a:srgbClr>
              </a:gs>
            </a:gsLst>
            <a:lin ang="5400000" scaled="1"/>
          </a:gradFill>
          <a:ln>
            <a:noFill/>
          </a:ln>
          <a:effectLst>
            <a:outerShdw blurRad="190500" dist="635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9C60EE59-5DB2-DC79-C0C9-567D54980BD2}"/>
              </a:ext>
            </a:extLst>
          </p:cNvPr>
          <p:cNvSpPr/>
          <p:nvPr/>
        </p:nvSpPr>
        <p:spPr>
          <a:xfrm flipH="1">
            <a:off x="8212428" y="0"/>
            <a:ext cx="3979572" cy="6858000"/>
          </a:xfrm>
          <a:prstGeom prst="chevron">
            <a:avLst>
              <a:gd name="adj" fmla="val 37679"/>
            </a:avLst>
          </a:prstGeom>
          <a:gradFill>
            <a:gsLst>
              <a:gs pos="100000">
                <a:schemeClr val="bg2">
                  <a:lumMod val="25000"/>
                </a:schemeClr>
              </a:gs>
              <a:gs pos="100000">
                <a:srgbClr val="0F5922">
                  <a:alpha val="70000"/>
                </a:srgbClr>
              </a:gs>
            </a:gsLst>
            <a:lin ang="5400000" scaled="1"/>
          </a:gradFill>
          <a:ln>
            <a:noFill/>
          </a:ln>
          <a:effectLst>
            <a:outerShdw blurRad="190500" dist="635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29F266BC-7ACC-E907-1C22-22E35E54BE7A}"/>
              </a:ext>
            </a:extLst>
          </p:cNvPr>
          <p:cNvSpPr/>
          <p:nvPr/>
        </p:nvSpPr>
        <p:spPr>
          <a:xfrm rot="5400000">
            <a:off x="-2306475" y="2347415"/>
            <a:ext cx="2160000" cy="2160000"/>
          </a:xfrm>
          <a:prstGeom prst="round2SameRect">
            <a:avLst>
              <a:gd name="adj1" fmla="val 50000"/>
              <a:gd name="adj2" fmla="val 50000"/>
            </a:avLst>
          </a:prstGeom>
          <a:gradFill>
            <a:gsLst>
              <a:gs pos="100000">
                <a:srgbClr val="07270F">
                  <a:alpha val="0"/>
                </a:srgbClr>
              </a:gs>
              <a:gs pos="0">
                <a:srgbClr val="0F5922">
                  <a:alpha val="75000"/>
                </a:srgbClr>
              </a:gs>
            </a:gsLst>
            <a:lin ang="5400000" scaled="1"/>
          </a:gradFill>
          <a:ln>
            <a:solidFill>
              <a:srgbClr val="0F5922"/>
            </a:solidFill>
          </a:ln>
          <a:effectLst>
            <a:outerShdw blurRad="190500" dist="635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9253D-1E66-5B1A-7D37-CB93B4C29218}"/>
              </a:ext>
            </a:extLst>
          </p:cNvPr>
          <p:cNvSpPr txBox="1"/>
          <p:nvPr/>
        </p:nvSpPr>
        <p:spPr>
          <a:xfrm>
            <a:off x="4318973" y="3136613"/>
            <a:ext cx="38026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 </a:t>
            </a:r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Overview</a:t>
            </a:r>
            <a:endParaRPr lang="en-PK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6ACD3D-41B9-3CBA-3484-0D3B110E4D35}"/>
              </a:ext>
            </a:extLst>
          </p:cNvPr>
          <p:cNvCxnSpPr>
            <a:cxnSpLocks/>
          </p:cNvCxnSpPr>
          <p:nvPr/>
        </p:nvCxnSpPr>
        <p:spPr>
          <a:xfrm>
            <a:off x="4594123" y="2971381"/>
            <a:ext cx="1455284" cy="0"/>
          </a:xfrm>
          <a:prstGeom prst="line">
            <a:avLst/>
          </a:prstGeom>
          <a:ln w="190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1206FF-26C4-A4B9-102A-881CA6442201}"/>
              </a:ext>
            </a:extLst>
          </p:cNvPr>
          <p:cNvSpPr/>
          <p:nvPr/>
        </p:nvSpPr>
        <p:spPr>
          <a:xfrm rot="10800000">
            <a:off x="6049407" y="2922565"/>
            <a:ext cx="97631" cy="97631"/>
          </a:xfrm>
          <a:prstGeom prst="roundRect">
            <a:avLst>
              <a:gd name="adj" fmla="val 2575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E40667-412C-0909-4E4F-A22F127642DE}"/>
              </a:ext>
            </a:extLst>
          </p:cNvPr>
          <p:cNvCxnSpPr>
            <a:cxnSpLocks/>
          </p:cNvCxnSpPr>
          <p:nvPr/>
        </p:nvCxnSpPr>
        <p:spPr>
          <a:xfrm flipV="1">
            <a:off x="6147038" y="3886618"/>
            <a:ext cx="1488703" cy="1"/>
          </a:xfrm>
          <a:prstGeom prst="line">
            <a:avLst/>
          </a:prstGeom>
          <a:ln w="190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64791C-AAE4-05A4-9F47-C0F33435766A}"/>
              </a:ext>
            </a:extLst>
          </p:cNvPr>
          <p:cNvSpPr/>
          <p:nvPr/>
        </p:nvSpPr>
        <p:spPr>
          <a:xfrm rot="10800000">
            <a:off x="6049407" y="3837805"/>
            <a:ext cx="97631" cy="97631"/>
          </a:xfrm>
          <a:prstGeom prst="roundRect">
            <a:avLst>
              <a:gd name="adj" fmla="val 2575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3579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1526">
        <p159:morph option="byObject"/>
      </p:transition>
    </mc:Choice>
    <mc:Fallback xmlns="">
      <p:transition spd="slow" advClick="0" advTm="1526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bg2">
                <a:lumMod val="50000"/>
              </a:schemeClr>
            </a:gs>
            <a:gs pos="100000">
              <a:srgbClr val="0F5922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row: Chevron 1">
            <a:extLst>
              <a:ext uri="{FF2B5EF4-FFF2-40B4-BE49-F238E27FC236}">
                <a16:creationId xmlns:a16="http://schemas.microsoft.com/office/drawing/2014/main" id="{48D72E75-F635-0C32-8795-13B20168320B}"/>
              </a:ext>
            </a:extLst>
          </p:cNvPr>
          <p:cNvSpPr/>
          <p:nvPr/>
        </p:nvSpPr>
        <p:spPr>
          <a:xfrm>
            <a:off x="358834" y="0"/>
            <a:ext cx="3979572" cy="6858000"/>
          </a:xfrm>
          <a:prstGeom prst="chevron">
            <a:avLst>
              <a:gd name="adj" fmla="val 37679"/>
            </a:avLst>
          </a:prstGeom>
          <a:gradFill>
            <a:gsLst>
              <a:gs pos="100000">
                <a:schemeClr val="bg2">
                  <a:lumMod val="25000"/>
                </a:schemeClr>
              </a:gs>
              <a:gs pos="100000">
                <a:srgbClr val="0F5922">
                  <a:alpha val="70000"/>
                </a:srgbClr>
              </a:gs>
            </a:gsLst>
            <a:lin ang="5400000" scaled="1"/>
          </a:gradFill>
          <a:ln>
            <a:noFill/>
          </a:ln>
          <a:effectLst>
            <a:outerShdw blurRad="190500" dist="635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4286DA33-7130-CD0E-8847-D2F9A7951F7C}"/>
              </a:ext>
            </a:extLst>
          </p:cNvPr>
          <p:cNvSpPr/>
          <p:nvPr/>
        </p:nvSpPr>
        <p:spPr>
          <a:xfrm flipH="1">
            <a:off x="7853594" y="0"/>
            <a:ext cx="3979572" cy="6858000"/>
          </a:xfrm>
          <a:prstGeom prst="chevron">
            <a:avLst>
              <a:gd name="adj" fmla="val 37679"/>
            </a:avLst>
          </a:prstGeom>
          <a:gradFill>
            <a:gsLst>
              <a:gs pos="100000">
                <a:schemeClr val="bg2">
                  <a:lumMod val="25000"/>
                </a:schemeClr>
              </a:gs>
              <a:gs pos="100000">
                <a:srgbClr val="0F5922">
                  <a:alpha val="70000"/>
                </a:srgbClr>
              </a:gs>
            </a:gsLst>
            <a:lin ang="5400000" scaled="1"/>
          </a:gradFill>
          <a:ln>
            <a:noFill/>
          </a:ln>
          <a:effectLst>
            <a:outerShdw blurRad="190500" dist="635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89253D-1E66-5B1A-7D37-CB93B4C29218}"/>
              </a:ext>
            </a:extLst>
          </p:cNvPr>
          <p:cNvSpPr txBox="1"/>
          <p:nvPr/>
        </p:nvSpPr>
        <p:spPr>
          <a:xfrm>
            <a:off x="4434323" y="3136613"/>
            <a:ext cx="37497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Overview</a:t>
            </a:r>
            <a:endParaRPr lang="en-PK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46ACD3D-41B9-3CBA-3484-0D3B110E4D35}"/>
              </a:ext>
            </a:extLst>
          </p:cNvPr>
          <p:cNvCxnSpPr>
            <a:cxnSpLocks/>
          </p:cNvCxnSpPr>
          <p:nvPr/>
        </p:nvCxnSpPr>
        <p:spPr>
          <a:xfrm>
            <a:off x="5368358" y="2971381"/>
            <a:ext cx="1455284" cy="0"/>
          </a:xfrm>
          <a:prstGeom prst="line">
            <a:avLst/>
          </a:prstGeom>
          <a:ln w="190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E40667-412C-0909-4E4F-A22F127642DE}"/>
              </a:ext>
            </a:extLst>
          </p:cNvPr>
          <p:cNvCxnSpPr>
            <a:cxnSpLocks/>
          </p:cNvCxnSpPr>
          <p:nvPr/>
        </p:nvCxnSpPr>
        <p:spPr>
          <a:xfrm flipV="1">
            <a:off x="5351649" y="3886618"/>
            <a:ext cx="1488703" cy="1"/>
          </a:xfrm>
          <a:prstGeom prst="line">
            <a:avLst/>
          </a:prstGeom>
          <a:ln w="19050" cap="rnd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0E2A808-9A05-78B9-853F-E58364F7DBAD}"/>
              </a:ext>
            </a:extLst>
          </p:cNvPr>
          <p:cNvSpPr/>
          <p:nvPr/>
        </p:nvSpPr>
        <p:spPr>
          <a:xfrm>
            <a:off x="8339430" y="1364344"/>
            <a:ext cx="3493736" cy="4129312"/>
          </a:xfrm>
          <a:prstGeom prst="roundRect">
            <a:avLst>
              <a:gd name="adj" fmla="val 6226"/>
            </a:avLst>
          </a:prstGeom>
          <a:solidFill>
            <a:schemeClr val="bg1"/>
          </a:solidFill>
          <a:ln>
            <a:noFill/>
          </a:ln>
          <a:effectLst>
            <a:outerShdw blurRad="190500" dist="88900" dir="10800000" algn="r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206FF5-76B0-57FC-2245-6D60FBDEE264}"/>
              </a:ext>
            </a:extLst>
          </p:cNvPr>
          <p:cNvSpPr/>
          <p:nvPr/>
        </p:nvSpPr>
        <p:spPr>
          <a:xfrm>
            <a:off x="358834" y="1364348"/>
            <a:ext cx="3493736" cy="4129308"/>
          </a:xfrm>
          <a:prstGeom prst="roundRect">
            <a:avLst>
              <a:gd name="adj" fmla="val 5810"/>
            </a:avLst>
          </a:prstGeom>
          <a:solidFill>
            <a:schemeClr val="bg1"/>
          </a:solidFill>
          <a:ln>
            <a:noFill/>
          </a:ln>
          <a:effectLst>
            <a:outerShdw blurRad="190500" dist="88900" algn="l" rotWithShape="0">
              <a:prstClr val="black">
                <a:alpha val="7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2CB02-C090-97EC-0F30-3BDC2D9048E3}"/>
              </a:ext>
            </a:extLst>
          </p:cNvPr>
          <p:cNvSpPr txBox="1"/>
          <p:nvPr/>
        </p:nvSpPr>
        <p:spPr>
          <a:xfrm>
            <a:off x="535403" y="1841978"/>
            <a:ext cx="324073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project allows users to:</a:t>
            </a:r>
          </a:p>
          <a:p>
            <a:endParaRPr lang="en-PK" sz="1200" b="1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Register students (name and ID)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-PK" sz="800" b="1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Mark attendance (Present or Absent) for a given date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-PK" sz="800" b="1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View all students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endParaRPr lang="en-PK" sz="800" b="1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View an individual student’s</a:t>
            </a:r>
          </a:p>
          <a:p>
            <a:pPr lvl="0"/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    attendance records</a:t>
            </a:r>
          </a:p>
          <a:p>
            <a:pPr lvl="0"/>
            <a:endParaRPr lang="en-PK" sz="800" b="1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data is stored in RAM, with a menu-driven console interface, making it ideal for learning core C programming concepts.</a:t>
            </a:r>
            <a:endParaRPr lang="en-PK" sz="1200" b="1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endParaRPr lang="en-ID" sz="2000" b="1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D0A2E67-3DC2-F10F-D5BE-C8316CAD0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521521"/>
            <a:ext cx="3086654" cy="3787079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487990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827">
        <p159:morph option="byObject"/>
      </p:transition>
    </mc:Choice>
    <mc:Fallback xmlns="">
      <p:transition spd="slow" advTm="1827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rrow: Chevron 9">
            <a:extLst>
              <a:ext uri="{FF2B5EF4-FFF2-40B4-BE49-F238E27FC236}">
                <a16:creationId xmlns:a16="http://schemas.microsoft.com/office/drawing/2014/main" id="{2DDFFA0F-2ED8-ACBC-C9CD-63DDF37D8C89}"/>
              </a:ext>
            </a:extLst>
          </p:cNvPr>
          <p:cNvSpPr/>
          <p:nvPr/>
        </p:nvSpPr>
        <p:spPr>
          <a:xfrm>
            <a:off x="-4194317" y="0"/>
            <a:ext cx="3979572" cy="6858000"/>
          </a:xfrm>
          <a:prstGeom prst="chevron">
            <a:avLst>
              <a:gd name="adj" fmla="val 37679"/>
            </a:avLst>
          </a:prstGeom>
          <a:gradFill>
            <a:gsLst>
              <a:gs pos="100000">
                <a:schemeClr val="bg2">
                  <a:lumMod val="25000"/>
                </a:schemeClr>
              </a:gs>
              <a:gs pos="100000">
                <a:srgbClr val="0F5922">
                  <a:alpha val="70000"/>
                </a:srgbClr>
              </a:gs>
            </a:gsLst>
            <a:lin ang="5400000" scaled="1"/>
          </a:gradFill>
          <a:ln>
            <a:noFill/>
          </a:ln>
          <a:effectLst>
            <a:outerShdw blurRad="190500" dist="635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CA105EB7-213F-9297-A5CC-43F1D75CFA3D}"/>
              </a:ext>
            </a:extLst>
          </p:cNvPr>
          <p:cNvSpPr/>
          <p:nvPr/>
        </p:nvSpPr>
        <p:spPr>
          <a:xfrm flipH="1">
            <a:off x="12406745" y="0"/>
            <a:ext cx="3979572" cy="6858000"/>
          </a:xfrm>
          <a:prstGeom prst="chevron">
            <a:avLst>
              <a:gd name="adj" fmla="val 37679"/>
            </a:avLst>
          </a:prstGeom>
          <a:gradFill>
            <a:gsLst>
              <a:gs pos="100000">
                <a:srgbClr val="07270F">
                  <a:alpha val="15000"/>
                </a:srgbClr>
              </a:gs>
              <a:gs pos="96000">
                <a:schemeClr val="bg2">
                  <a:lumMod val="25000"/>
                </a:schemeClr>
              </a:gs>
            </a:gsLst>
            <a:lin ang="5400000" scaled="1"/>
          </a:gradFill>
          <a:ln>
            <a:noFill/>
          </a:ln>
          <a:effectLst>
            <a:outerShdw blurRad="190500" dist="63500" dir="10800000" algn="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206FF5-76B0-57FC-2245-6D60FBDEE264}"/>
              </a:ext>
            </a:extLst>
          </p:cNvPr>
          <p:cNvSpPr/>
          <p:nvPr/>
        </p:nvSpPr>
        <p:spPr>
          <a:xfrm flipH="1">
            <a:off x="357943" y="362857"/>
            <a:ext cx="11476115" cy="6132290"/>
          </a:xfrm>
          <a:prstGeom prst="roundRect">
            <a:avLst>
              <a:gd name="adj" fmla="val 2774"/>
            </a:avLst>
          </a:prstGeom>
          <a:gradFill>
            <a:gsLst>
              <a:gs pos="100000">
                <a:schemeClr val="bg2">
                  <a:lumMod val="50000"/>
                </a:schemeClr>
              </a:gs>
              <a:gs pos="100000">
                <a:srgbClr val="0F5922"/>
              </a:gs>
            </a:gsLst>
            <a:lin ang="6600000" scaled="0"/>
          </a:gradFill>
          <a:ln>
            <a:noFill/>
          </a:ln>
          <a:effectLst>
            <a:outerShdw blurRad="127000" dist="25400" algn="l" rotWithShape="0">
              <a:prstClr val="black">
                <a:alpha val="3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8BCDE299-F87B-6105-87BF-4350D48CB651}"/>
              </a:ext>
            </a:extLst>
          </p:cNvPr>
          <p:cNvSpPr/>
          <p:nvPr/>
        </p:nvSpPr>
        <p:spPr>
          <a:xfrm>
            <a:off x="4212227" y="4721492"/>
            <a:ext cx="1102807" cy="1773655"/>
          </a:xfrm>
          <a:custGeom>
            <a:avLst/>
            <a:gdLst>
              <a:gd name="connsiteX0" fmla="*/ 253065 w 1102807"/>
              <a:gd name="connsiteY0" fmla="*/ 0 h 1773655"/>
              <a:gd name="connsiteX1" fmla="*/ 253065 w 1102807"/>
              <a:gd name="connsiteY1" fmla="*/ 65779 h 1773655"/>
              <a:gd name="connsiteX2" fmla="*/ 1022154 w 1102807"/>
              <a:gd name="connsiteY2" fmla="*/ 65779 h 1773655"/>
              <a:gd name="connsiteX3" fmla="*/ 1102807 w 1102807"/>
              <a:gd name="connsiteY3" fmla="*/ 146432 h 1773655"/>
              <a:gd name="connsiteX4" fmla="*/ 1102807 w 1102807"/>
              <a:gd name="connsiteY4" fmla="*/ 1773655 h 1773655"/>
              <a:gd name="connsiteX5" fmla="*/ 941501 w 1102807"/>
              <a:gd name="connsiteY5" fmla="*/ 1773655 h 1773655"/>
              <a:gd name="connsiteX6" fmla="*/ 941501 w 1102807"/>
              <a:gd name="connsiteY6" fmla="*/ 227779 h 1773655"/>
              <a:gd name="connsiteX7" fmla="*/ 253065 w 1102807"/>
              <a:gd name="connsiteY7" fmla="*/ 227779 h 1773655"/>
              <a:gd name="connsiteX8" fmla="*/ 253065 w 1102807"/>
              <a:gd name="connsiteY8" fmla="*/ 293557 h 1773655"/>
              <a:gd name="connsiteX9" fmla="*/ 0 w 1102807"/>
              <a:gd name="connsiteY9" fmla="*/ 146778 h 1773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2807" h="1773655">
                <a:moveTo>
                  <a:pt x="253065" y="0"/>
                </a:moveTo>
                <a:lnTo>
                  <a:pt x="253065" y="65779"/>
                </a:lnTo>
                <a:lnTo>
                  <a:pt x="1022154" y="65779"/>
                </a:lnTo>
                <a:cubicBezTo>
                  <a:pt x="1066697" y="65779"/>
                  <a:pt x="1102807" y="101889"/>
                  <a:pt x="1102807" y="146432"/>
                </a:cubicBezTo>
                <a:lnTo>
                  <a:pt x="1102807" y="1773655"/>
                </a:lnTo>
                <a:lnTo>
                  <a:pt x="941501" y="1773655"/>
                </a:lnTo>
                <a:lnTo>
                  <a:pt x="941501" y="227779"/>
                </a:lnTo>
                <a:lnTo>
                  <a:pt x="253065" y="227779"/>
                </a:lnTo>
                <a:lnTo>
                  <a:pt x="253065" y="293557"/>
                </a:lnTo>
                <a:lnTo>
                  <a:pt x="0" y="14677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81" name="Freeform: Shape 80">
            <a:extLst>
              <a:ext uri="{FF2B5EF4-FFF2-40B4-BE49-F238E27FC236}">
                <a16:creationId xmlns:a16="http://schemas.microsoft.com/office/drawing/2014/main" id="{1E6AE7E8-7DD4-E54E-2444-5868EF4B7CCA}"/>
              </a:ext>
            </a:extLst>
          </p:cNvPr>
          <p:cNvSpPr/>
          <p:nvPr/>
        </p:nvSpPr>
        <p:spPr>
          <a:xfrm rot="16200000">
            <a:off x="3878015" y="4273223"/>
            <a:ext cx="2854627" cy="879523"/>
          </a:xfrm>
          <a:custGeom>
            <a:avLst/>
            <a:gdLst>
              <a:gd name="connsiteX0" fmla="*/ 2854627 w 2854627"/>
              <a:gd name="connsiteY0" fmla="*/ 253065 h 879523"/>
              <a:gd name="connsiteX1" fmla="*/ 2788848 w 2854627"/>
              <a:gd name="connsiteY1" fmla="*/ 253065 h 879523"/>
              <a:gd name="connsiteX2" fmla="*/ 2788848 w 2854627"/>
              <a:gd name="connsiteY2" fmla="*/ 798870 h 879523"/>
              <a:gd name="connsiteX3" fmla="*/ 2788848 w 2854627"/>
              <a:gd name="connsiteY3" fmla="*/ 799820 h 879523"/>
              <a:gd name="connsiteX4" fmla="*/ 2788656 w 2854627"/>
              <a:gd name="connsiteY4" fmla="*/ 799820 h 879523"/>
              <a:gd name="connsiteX5" fmla="*/ 2782510 w 2854627"/>
              <a:gd name="connsiteY5" fmla="*/ 830264 h 879523"/>
              <a:gd name="connsiteX6" fmla="*/ 2708195 w 2854627"/>
              <a:gd name="connsiteY6" fmla="*/ 879523 h 879523"/>
              <a:gd name="connsiteX7" fmla="*/ 0 w 2854627"/>
              <a:gd name="connsiteY7" fmla="*/ 879523 h 879523"/>
              <a:gd name="connsiteX8" fmla="*/ 0 w 2854627"/>
              <a:gd name="connsiteY8" fmla="*/ 718217 h 879523"/>
              <a:gd name="connsiteX9" fmla="*/ 2626848 w 2854627"/>
              <a:gd name="connsiteY9" fmla="*/ 718217 h 879523"/>
              <a:gd name="connsiteX10" fmla="*/ 2626848 w 2854627"/>
              <a:gd name="connsiteY10" fmla="*/ 253065 h 879523"/>
              <a:gd name="connsiteX11" fmla="*/ 2561070 w 2854627"/>
              <a:gd name="connsiteY11" fmla="*/ 253065 h 879523"/>
              <a:gd name="connsiteX12" fmla="*/ 2707849 w 2854627"/>
              <a:gd name="connsiteY12" fmla="*/ 0 h 879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54627" h="879523">
                <a:moveTo>
                  <a:pt x="2854627" y="253065"/>
                </a:moveTo>
                <a:lnTo>
                  <a:pt x="2788848" y="253065"/>
                </a:lnTo>
                <a:lnTo>
                  <a:pt x="2788848" y="798870"/>
                </a:lnTo>
                <a:lnTo>
                  <a:pt x="2788848" y="799820"/>
                </a:lnTo>
                <a:lnTo>
                  <a:pt x="2788656" y="799820"/>
                </a:lnTo>
                <a:lnTo>
                  <a:pt x="2782510" y="830264"/>
                </a:lnTo>
                <a:cubicBezTo>
                  <a:pt x="2770266" y="859211"/>
                  <a:pt x="2741602" y="879523"/>
                  <a:pt x="2708195" y="879523"/>
                </a:cubicBezTo>
                <a:lnTo>
                  <a:pt x="0" y="879523"/>
                </a:lnTo>
                <a:lnTo>
                  <a:pt x="0" y="718217"/>
                </a:lnTo>
                <a:lnTo>
                  <a:pt x="2626848" y="718217"/>
                </a:lnTo>
                <a:lnTo>
                  <a:pt x="2626848" y="253065"/>
                </a:lnTo>
                <a:lnTo>
                  <a:pt x="2561070" y="253065"/>
                </a:lnTo>
                <a:lnTo>
                  <a:pt x="2707849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A8F53CC7-5E72-1AE0-666B-7D632EB329EA}"/>
              </a:ext>
            </a:extLst>
          </p:cNvPr>
          <p:cNvSpPr/>
          <p:nvPr/>
        </p:nvSpPr>
        <p:spPr>
          <a:xfrm rot="5400000" flipH="1">
            <a:off x="6541542" y="5056912"/>
            <a:ext cx="1773655" cy="1102807"/>
          </a:xfrm>
          <a:custGeom>
            <a:avLst/>
            <a:gdLst>
              <a:gd name="connsiteX0" fmla="*/ 1773655 w 1773655"/>
              <a:gd name="connsiteY0" fmla="*/ 253065 h 1102807"/>
              <a:gd name="connsiteX1" fmla="*/ 1626877 w 1773655"/>
              <a:gd name="connsiteY1" fmla="*/ 0 h 1102807"/>
              <a:gd name="connsiteX2" fmla="*/ 1480098 w 1773655"/>
              <a:gd name="connsiteY2" fmla="*/ 253065 h 1102807"/>
              <a:gd name="connsiteX3" fmla="*/ 1545876 w 1773655"/>
              <a:gd name="connsiteY3" fmla="*/ 253065 h 1102807"/>
              <a:gd name="connsiteX4" fmla="*/ 1545876 w 1773655"/>
              <a:gd name="connsiteY4" fmla="*/ 941501 h 1102807"/>
              <a:gd name="connsiteX5" fmla="*/ 0 w 1773655"/>
              <a:gd name="connsiteY5" fmla="*/ 941501 h 1102807"/>
              <a:gd name="connsiteX6" fmla="*/ 0 w 1773655"/>
              <a:gd name="connsiteY6" fmla="*/ 1102807 h 1102807"/>
              <a:gd name="connsiteX7" fmla="*/ 1627223 w 1773655"/>
              <a:gd name="connsiteY7" fmla="*/ 1102807 h 1102807"/>
              <a:gd name="connsiteX8" fmla="*/ 1707876 w 1773655"/>
              <a:gd name="connsiteY8" fmla="*/ 1022154 h 1102807"/>
              <a:gd name="connsiteX9" fmla="*/ 1707876 w 1773655"/>
              <a:gd name="connsiteY9" fmla="*/ 253065 h 1102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73655" h="1102807">
                <a:moveTo>
                  <a:pt x="1773655" y="253065"/>
                </a:moveTo>
                <a:lnTo>
                  <a:pt x="1626877" y="0"/>
                </a:lnTo>
                <a:lnTo>
                  <a:pt x="1480098" y="253065"/>
                </a:lnTo>
                <a:lnTo>
                  <a:pt x="1545876" y="253065"/>
                </a:lnTo>
                <a:lnTo>
                  <a:pt x="1545876" y="941501"/>
                </a:lnTo>
                <a:lnTo>
                  <a:pt x="0" y="941501"/>
                </a:lnTo>
                <a:lnTo>
                  <a:pt x="0" y="1102807"/>
                </a:lnTo>
                <a:lnTo>
                  <a:pt x="1627223" y="1102807"/>
                </a:lnTo>
                <a:cubicBezTo>
                  <a:pt x="1671766" y="1102807"/>
                  <a:pt x="1707876" y="1066697"/>
                  <a:pt x="1707876" y="1022154"/>
                </a:cubicBezTo>
                <a:lnTo>
                  <a:pt x="1707876" y="2530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9639BEBF-1249-E273-3515-DFC17A7DE811}"/>
              </a:ext>
            </a:extLst>
          </p:cNvPr>
          <p:cNvSpPr/>
          <p:nvPr/>
        </p:nvSpPr>
        <p:spPr>
          <a:xfrm rot="5400000" flipH="1">
            <a:off x="5459358" y="4273219"/>
            <a:ext cx="2854627" cy="879523"/>
          </a:xfrm>
          <a:custGeom>
            <a:avLst/>
            <a:gdLst>
              <a:gd name="connsiteX0" fmla="*/ 2854627 w 2854627"/>
              <a:gd name="connsiteY0" fmla="*/ 253065 h 879523"/>
              <a:gd name="connsiteX1" fmla="*/ 2707849 w 2854627"/>
              <a:gd name="connsiteY1" fmla="*/ 0 h 879523"/>
              <a:gd name="connsiteX2" fmla="*/ 2561070 w 2854627"/>
              <a:gd name="connsiteY2" fmla="*/ 253065 h 879523"/>
              <a:gd name="connsiteX3" fmla="*/ 2626848 w 2854627"/>
              <a:gd name="connsiteY3" fmla="*/ 253065 h 879523"/>
              <a:gd name="connsiteX4" fmla="*/ 2626848 w 2854627"/>
              <a:gd name="connsiteY4" fmla="*/ 718217 h 879523"/>
              <a:gd name="connsiteX5" fmla="*/ 0 w 2854627"/>
              <a:gd name="connsiteY5" fmla="*/ 718217 h 879523"/>
              <a:gd name="connsiteX6" fmla="*/ 0 w 2854627"/>
              <a:gd name="connsiteY6" fmla="*/ 879523 h 879523"/>
              <a:gd name="connsiteX7" fmla="*/ 2708195 w 2854627"/>
              <a:gd name="connsiteY7" fmla="*/ 879523 h 879523"/>
              <a:gd name="connsiteX8" fmla="*/ 2782510 w 2854627"/>
              <a:gd name="connsiteY8" fmla="*/ 830264 h 879523"/>
              <a:gd name="connsiteX9" fmla="*/ 2788656 w 2854627"/>
              <a:gd name="connsiteY9" fmla="*/ 799820 h 879523"/>
              <a:gd name="connsiteX10" fmla="*/ 2788848 w 2854627"/>
              <a:gd name="connsiteY10" fmla="*/ 799820 h 879523"/>
              <a:gd name="connsiteX11" fmla="*/ 2788848 w 2854627"/>
              <a:gd name="connsiteY11" fmla="*/ 798870 h 879523"/>
              <a:gd name="connsiteX12" fmla="*/ 2788848 w 2854627"/>
              <a:gd name="connsiteY12" fmla="*/ 253065 h 879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54627" h="879523">
                <a:moveTo>
                  <a:pt x="2854627" y="253065"/>
                </a:moveTo>
                <a:lnTo>
                  <a:pt x="2707849" y="0"/>
                </a:lnTo>
                <a:lnTo>
                  <a:pt x="2561070" y="253065"/>
                </a:lnTo>
                <a:lnTo>
                  <a:pt x="2626848" y="253065"/>
                </a:lnTo>
                <a:lnTo>
                  <a:pt x="2626848" y="718217"/>
                </a:lnTo>
                <a:lnTo>
                  <a:pt x="0" y="718217"/>
                </a:lnTo>
                <a:lnTo>
                  <a:pt x="0" y="879523"/>
                </a:lnTo>
                <a:lnTo>
                  <a:pt x="2708195" y="879523"/>
                </a:lnTo>
                <a:cubicBezTo>
                  <a:pt x="2741602" y="879523"/>
                  <a:pt x="2770266" y="859211"/>
                  <a:pt x="2782510" y="830264"/>
                </a:cubicBezTo>
                <a:lnTo>
                  <a:pt x="2788656" y="799820"/>
                </a:lnTo>
                <a:lnTo>
                  <a:pt x="2788848" y="799820"/>
                </a:lnTo>
                <a:lnTo>
                  <a:pt x="2788848" y="798870"/>
                </a:lnTo>
                <a:lnTo>
                  <a:pt x="2788848" y="2530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EAF68935-DC42-3B29-DE94-6A8952691F6D}"/>
              </a:ext>
            </a:extLst>
          </p:cNvPr>
          <p:cNvSpPr/>
          <p:nvPr/>
        </p:nvSpPr>
        <p:spPr>
          <a:xfrm flipH="1">
            <a:off x="5949222" y="2376609"/>
            <a:ext cx="293557" cy="4118528"/>
          </a:xfrm>
          <a:custGeom>
            <a:avLst/>
            <a:gdLst>
              <a:gd name="connsiteX0" fmla="*/ 146779 w 293557"/>
              <a:gd name="connsiteY0" fmla="*/ 0 h 4118528"/>
              <a:gd name="connsiteX1" fmla="*/ 0 w 293557"/>
              <a:gd name="connsiteY1" fmla="*/ 253065 h 4118528"/>
              <a:gd name="connsiteX2" fmla="*/ 70113 w 293557"/>
              <a:gd name="connsiteY2" fmla="*/ 253065 h 4118528"/>
              <a:gd name="connsiteX3" fmla="*/ 67633 w 293557"/>
              <a:gd name="connsiteY3" fmla="*/ 265348 h 4118528"/>
              <a:gd name="connsiteX4" fmla="*/ 67633 w 293557"/>
              <a:gd name="connsiteY4" fmla="*/ 4118528 h 4118528"/>
              <a:gd name="connsiteX5" fmla="*/ 228939 w 293557"/>
              <a:gd name="connsiteY5" fmla="*/ 4118528 h 4118528"/>
              <a:gd name="connsiteX6" fmla="*/ 228939 w 293557"/>
              <a:gd name="connsiteY6" fmla="*/ 265348 h 4118528"/>
              <a:gd name="connsiteX7" fmla="*/ 226459 w 293557"/>
              <a:gd name="connsiteY7" fmla="*/ 253065 h 4118528"/>
              <a:gd name="connsiteX8" fmla="*/ 293557 w 293557"/>
              <a:gd name="connsiteY8" fmla="*/ 253065 h 4118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3557" h="4118528">
                <a:moveTo>
                  <a:pt x="146779" y="0"/>
                </a:moveTo>
                <a:lnTo>
                  <a:pt x="0" y="253065"/>
                </a:lnTo>
                <a:lnTo>
                  <a:pt x="70113" y="253065"/>
                </a:lnTo>
                <a:lnTo>
                  <a:pt x="67633" y="265348"/>
                </a:lnTo>
                <a:lnTo>
                  <a:pt x="67633" y="4118528"/>
                </a:lnTo>
                <a:lnTo>
                  <a:pt x="228939" y="4118528"/>
                </a:lnTo>
                <a:lnTo>
                  <a:pt x="228939" y="265348"/>
                </a:lnTo>
                <a:lnTo>
                  <a:pt x="226459" y="253065"/>
                </a:lnTo>
                <a:lnTo>
                  <a:pt x="293557" y="25306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30411750-0950-C95C-C3BE-AA6C4A50B2A1}"/>
              </a:ext>
            </a:extLst>
          </p:cNvPr>
          <p:cNvSpPr/>
          <p:nvPr/>
        </p:nvSpPr>
        <p:spPr>
          <a:xfrm>
            <a:off x="4476000" y="5956123"/>
            <a:ext cx="3240000" cy="3240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63500" dist="63500" dir="16200000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8243A6C6-10B7-3362-28FE-0D0383904619}"/>
              </a:ext>
            </a:extLst>
          </p:cNvPr>
          <p:cNvGrpSpPr/>
          <p:nvPr/>
        </p:nvGrpSpPr>
        <p:grpSpPr>
          <a:xfrm>
            <a:off x="7742241" y="2852919"/>
            <a:ext cx="2311024" cy="1354217"/>
            <a:chOff x="7530565" y="3043991"/>
            <a:chExt cx="2311024" cy="1354217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BC9A988A-EB5F-B6C1-CCD5-5A86C8DE6B74}"/>
                </a:ext>
              </a:extLst>
            </p:cNvPr>
            <p:cNvSpPr txBox="1"/>
            <p:nvPr/>
          </p:nvSpPr>
          <p:spPr>
            <a:xfrm>
              <a:off x="7530565" y="3043991"/>
              <a:ext cx="16433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Program Flow</a:t>
              </a:r>
              <a:endParaRPr lang="en-ID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784168E-2278-4AC7-733B-C201F77177FF}"/>
                </a:ext>
              </a:extLst>
            </p:cNvPr>
            <p:cNvSpPr txBox="1"/>
            <p:nvPr/>
          </p:nvSpPr>
          <p:spPr>
            <a:xfrm>
              <a:off x="7530565" y="3382545"/>
              <a:ext cx="231102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The program loops until the user selects Exit.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Users navigate via numeric menu input</a:t>
              </a:r>
              <a:r>
                <a:rPr lang="en-US" sz="12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.</a:t>
              </a:r>
              <a:endParaRPr lang="en-US" b="1" dirty="0"/>
            </a:p>
            <a:p>
              <a:pPr algn="just"/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E059F952-3980-815F-8C19-729BBE54DAC7}"/>
              </a:ext>
            </a:extLst>
          </p:cNvPr>
          <p:cNvGrpSpPr/>
          <p:nvPr/>
        </p:nvGrpSpPr>
        <p:grpSpPr>
          <a:xfrm>
            <a:off x="8327645" y="4736128"/>
            <a:ext cx="2311024" cy="615553"/>
            <a:chOff x="7530565" y="3043991"/>
            <a:chExt cx="2311024" cy="615553"/>
          </a:xfrm>
        </p:grpSpPr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20B137CD-6DC4-9950-C1BE-3643406B82B3}"/>
                </a:ext>
              </a:extLst>
            </p:cNvPr>
            <p:cNvSpPr txBox="1"/>
            <p:nvPr/>
          </p:nvSpPr>
          <p:spPr>
            <a:xfrm>
              <a:off x="7530565" y="3043991"/>
              <a:ext cx="16433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Program Flow</a:t>
              </a:r>
              <a:endParaRPr lang="en-ID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C5BA9E8-36E8-9CC9-73D2-812077CA771C}"/>
                </a:ext>
              </a:extLst>
            </p:cNvPr>
            <p:cNvSpPr txBox="1"/>
            <p:nvPr/>
          </p:nvSpPr>
          <p:spPr>
            <a:xfrm>
              <a:off x="7530565" y="3382545"/>
              <a:ext cx="23110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ID" sz="1200" b="0" i="0" dirty="0">
                  <a:solidFill>
                    <a:schemeClr val="bg1"/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rPr>
                <a:t> </a:t>
              </a:r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A610FB86-1B16-7EE5-8754-6C5A9A764907}"/>
              </a:ext>
            </a:extLst>
          </p:cNvPr>
          <p:cNvGrpSpPr/>
          <p:nvPr/>
        </p:nvGrpSpPr>
        <p:grpSpPr>
          <a:xfrm>
            <a:off x="2129893" y="2186999"/>
            <a:ext cx="2545065" cy="2092880"/>
            <a:chOff x="7530564" y="3043991"/>
            <a:chExt cx="2545065" cy="2092880"/>
          </a:xfrm>
        </p:grpSpPr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53768F5-9D37-744E-7E6D-3331656F2B86}"/>
                </a:ext>
              </a:extLst>
            </p:cNvPr>
            <p:cNvSpPr txBox="1"/>
            <p:nvPr/>
          </p:nvSpPr>
          <p:spPr>
            <a:xfrm>
              <a:off x="7530565" y="3043991"/>
              <a:ext cx="16770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Requirements</a:t>
              </a:r>
              <a:endParaRPr lang="en-ID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7FF1F2A-DE07-ADD8-F2E6-FE63DBA80BB4}"/>
                </a:ext>
              </a:extLst>
            </p:cNvPr>
            <p:cNvSpPr txBox="1"/>
            <p:nvPr/>
          </p:nvSpPr>
          <p:spPr>
            <a:xfrm>
              <a:off x="7530564" y="3382545"/>
              <a:ext cx="2545065" cy="175432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 compiler (tested with GCC, Dev-C++, or MSVC)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Windows OS recommended for best experience (uses system("</a:t>
              </a:r>
              <a:r>
                <a:rPr lang="en-US" sz="1200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cls</a:t>
              </a: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") for clearing console)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Basic console/terminal access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algn="just"/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0D3C8880-35D5-F7E9-B9ED-9D930DA00CB3}"/>
              </a:ext>
            </a:extLst>
          </p:cNvPr>
          <p:cNvGrpSpPr/>
          <p:nvPr/>
        </p:nvGrpSpPr>
        <p:grpSpPr>
          <a:xfrm>
            <a:off x="1544490" y="4239173"/>
            <a:ext cx="2311024" cy="2277546"/>
            <a:chOff x="7530565" y="3043991"/>
            <a:chExt cx="2311024" cy="2277546"/>
          </a:xfrm>
        </p:grpSpPr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6E21AED6-4807-031D-7916-BA62714A7581}"/>
                </a:ext>
              </a:extLst>
            </p:cNvPr>
            <p:cNvSpPr txBox="1"/>
            <p:nvPr/>
          </p:nvSpPr>
          <p:spPr>
            <a:xfrm>
              <a:off x="7530565" y="3043991"/>
              <a:ext cx="15552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Key Features</a:t>
              </a:r>
              <a:endParaRPr lang="en-PK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D1CEECB-AEB0-D71F-7F3B-2C78B07D7777}"/>
                </a:ext>
              </a:extLst>
            </p:cNvPr>
            <p:cNvSpPr txBox="1"/>
            <p:nvPr/>
          </p:nvSpPr>
          <p:spPr>
            <a:xfrm>
              <a:off x="7530565" y="3382545"/>
              <a:ext cx="2311024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Add new students with unique IDs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Mark attendance with user-specified date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View all registered students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View individual student attendance history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Menu-driven interface for simple navigation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4D3AB4F-6A7E-3529-0D0A-28E3E95ABA4C}"/>
              </a:ext>
            </a:extLst>
          </p:cNvPr>
          <p:cNvGrpSpPr/>
          <p:nvPr/>
        </p:nvGrpSpPr>
        <p:grpSpPr>
          <a:xfrm>
            <a:off x="4212226" y="942937"/>
            <a:ext cx="4979394" cy="1354217"/>
            <a:chOff x="4212226" y="985272"/>
            <a:chExt cx="4979394" cy="1354217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65837FE-8CCB-9F68-85DC-84CDF77D5E04}"/>
                </a:ext>
              </a:extLst>
            </p:cNvPr>
            <p:cNvSpPr txBox="1"/>
            <p:nvPr/>
          </p:nvSpPr>
          <p:spPr>
            <a:xfrm>
              <a:off x="4212226" y="1323826"/>
              <a:ext cx="497939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Using Dev-C++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Create a New Project → Console Application → C Project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Add the .c file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Press F9 to compile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lvl="0" indent="-171450">
                <a:buFont typeface="Wingdings" panose="05000000000000000000" pitchFamily="2" charset="2"/>
                <a:buChar char="v"/>
              </a:pP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Run the program via Dev-C++</a:t>
              </a:r>
              <a:endParaRPr lang="en-PK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742CB08-DA43-D4E7-C2C9-BAD07A3DFE1A}"/>
                </a:ext>
              </a:extLst>
            </p:cNvPr>
            <p:cNvSpPr txBox="1"/>
            <p:nvPr/>
          </p:nvSpPr>
          <p:spPr>
            <a:xfrm>
              <a:off x="5407706" y="985272"/>
              <a:ext cx="13548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How to Run</a:t>
              </a:r>
              <a:endParaRPr lang="en-ID" sz="16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8BA18E-63E1-0893-D8C1-B2B36A16E0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779"/>
          <a:stretch>
            <a:fillRect/>
          </a:stretch>
        </p:blipFill>
        <p:spPr bwMode="auto">
          <a:xfrm>
            <a:off x="8327646" y="5069626"/>
            <a:ext cx="2311024" cy="1250696"/>
          </a:xfrm>
          <a:prstGeom prst="rect">
            <a:avLst/>
          </a:prstGeom>
          <a:ln w="38100">
            <a:solidFill>
              <a:schemeClr val="bg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97874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6728">
        <p159:morph option="byObject"/>
      </p:transition>
    </mc:Choice>
    <mc:Fallback xmlns="">
      <p:transition spd="slow" advTm="672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  <p:bldP spid="81" grpId="0" animBg="1"/>
      <p:bldP spid="84" grpId="0" animBg="1"/>
      <p:bldP spid="83" grpId="0" animBg="1"/>
      <p:bldP spid="8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5206FF5-76B0-57FC-2245-6D60FBDEE264}"/>
              </a:ext>
            </a:extLst>
          </p:cNvPr>
          <p:cNvSpPr/>
          <p:nvPr/>
        </p:nvSpPr>
        <p:spPr>
          <a:xfrm>
            <a:off x="0" y="362857"/>
            <a:ext cx="12192000" cy="6132290"/>
          </a:xfrm>
          <a:prstGeom prst="roundRect">
            <a:avLst>
              <a:gd name="adj" fmla="val 5000"/>
            </a:avLst>
          </a:prstGeom>
          <a:gradFill>
            <a:gsLst>
              <a:gs pos="100000">
                <a:schemeClr val="bg2">
                  <a:lumMod val="50000"/>
                </a:schemeClr>
              </a:gs>
              <a:gs pos="100000">
                <a:srgbClr val="0F5922"/>
              </a:gs>
            </a:gsLst>
            <a:lin ang="6600000" scaled="0"/>
          </a:gradFill>
          <a:ln>
            <a:noFill/>
          </a:ln>
          <a:effectLst>
            <a:outerShdw blurRad="127000" dist="25400" algn="l" rotWithShape="0">
              <a:prstClr val="black">
                <a:alpha val="3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1E5737-3D6D-3E62-08A1-AE6FF5AEE541}"/>
              </a:ext>
            </a:extLst>
          </p:cNvPr>
          <p:cNvSpPr txBox="1"/>
          <p:nvPr/>
        </p:nvSpPr>
        <p:spPr>
          <a:xfrm>
            <a:off x="4337341" y="488940"/>
            <a:ext cx="35173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Data Structures</a:t>
            </a:r>
            <a:endParaRPr lang="en-ID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" name="Picture 1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F72BA80-7836-CE07-6BF5-7964ABD596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626"/>
          <a:stretch>
            <a:fillRect/>
          </a:stretch>
        </p:blipFill>
        <p:spPr bwMode="auto">
          <a:xfrm>
            <a:off x="2854325" y="1073715"/>
            <a:ext cx="6483350" cy="4789875"/>
          </a:xfrm>
          <a:prstGeom prst="rect">
            <a:avLst/>
          </a:prstGeom>
          <a:ln w="38100">
            <a:solidFill>
              <a:schemeClr val="bg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05268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2085">
        <p159:morph option="byObject"/>
      </p:transition>
    </mc:Choice>
    <mc:Fallback xmlns="">
      <p:transition spd="slow" advTm="208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FE006120-AB0B-9388-712A-57092573E56C}"/>
              </a:ext>
            </a:extLst>
          </p:cNvPr>
          <p:cNvSpPr/>
          <p:nvPr/>
        </p:nvSpPr>
        <p:spPr>
          <a:xfrm flipV="1">
            <a:off x="5287314" y="7007432"/>
            <a:ext cx="1617372" cy="1537958"/>
          </a:xfrm>
          <a:prstGeom prst="roundRect">
            <a:avLst>
              <a:gd name="adj" fmla="val 2774"/>
            </a:avLst>
          </a:prstGeom>
          <a:solidFill>
            <a:schemeClr val="bg2">
              <a:lumMod val="25000"/>
            </a:schemeClr>
          </a:solidFill>
          <a:ln>
            <a:solidFill>
              <a:schemeClr val="bg2">
                <a:lumMod val="25000"/>
              </a:schemeClr>
            </a:solidFill>
          </a:ln>
          <a:effectLst>
            <a:outerShdw blurRad="127000" dist="25400" algn="l" rotWithShape="0">
              <a:prstClr val="black">
                <a:alpha val="3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719C3041-A4C6-5ADE-DAF4-52E4653A6472}"/>
              </a:ext>
            </a:extLst>
          </p:cNvPr>
          <p:cNvSpPr/>
          <p:nvPr/>
        </p:nvSpPr>
        <p:spPr>
          <a:xfrm flipH="1" flipV="1">
            <a:off x="7200360" y="3550884"/>
            <a:ext cx="4991640" cy="1681903"/>
          </a:xfrm>
          <a:custGeom>
            <a:avLst/>
            <a:gdLst>
              <a:gd name="connsiteX0" fmla="*/ 4034465 w 4991640"/>
              <a:gd name="connsiteY0" fmla="*/ 1681903 h 1681903"/>
              <a:gd name="connsiteX1" fmla="*/ 0 w 4991640"/>
              <a:gd name="connsiteY1" fmla="*/ 1681903 h 1681903"/>
              <a:gd name="connsiteX2" fmla="*/ 0 w 4991640"/>
              <a:gd name="connsiteY2" fmla="*/ 0 h 1681903"/>
              <a:gd name="connsiteX3" fmla="*/ 4991640 w 4991640"/>
              <a:gd name="connsiteY3" fmla="*/ 0 h 168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640" h="1681903">
                <a:moveTo>
                  <a:pt x="4034465" y="1681903"/>
                </a:moveTo>
                <a:lnTo>
                  <a:pt x="0" y="1681903"/>
                </a:lnTo>
                <a:lnTo>
                  <a:pt x="0" y="0"/>
                </a:lnTo>
                <a:lnTo>
                  <a:pt x="4991640" y="0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C01948F9-C060-33DE-ABED-C34460D47CDE}"/>
              </a:ext>
            </a:extLst>
          </p:cNvPr>
          <p:cNvSpPr/>
          <p:nvPr/>
        </p:nvSpPr>
        <p:spPr>
          <a:xfrm flipV="1">
            <a:off x="0" y="3535792"/>
            <a:ext cx="4991641" cy="1681903"/>
          </a:xfrm>
          <a:custGeom>
            <a:avLst/>
            <a:gdLst>
              <a:gd name="connsiteX0" fmla="*/ 0 w 4991641"/>
              <a:gd name="connsiteY0" fmla="*/ 1681903 h 1681903"/>
              <a:gd name="connsiteX1" fmla="*/ 4034466 w 4991641"/>
              <a:gd name="connsiteY1" fmla="*/ 1681903 h 1681903"/>
              <a:gd name="connsiteX2" fmla="*/ 4991641 w 4991641"/>
              <a:gd name="connsiteY2" fmla="*/ 0 h 1681903"/>
              <a:gd name="connsiteX3" fmla="*/ 0 w 4991641"/>
              <a:gd name="connsiteY3" fmla="*/ 0 h 168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641" h="1681903">
                <a:moveTo>
                  <a:pt x="0" y="1681903"/>
                </a:moveTo>
                <a:lnTo>
                  <a:pt x="4034466" y="1681903"/>
                </a:lnTo>
                <a:lnTo>
                  <a:pt x="4991641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7CCB26D-DC5A-2B1B-D6CD-A612EC929A1A}"/>
              </a:ext>
            </a:extLst>
          </p:cNvPr>
          <p:cNvSpPr/>
          <p:nvPr/>
        </p:nvSpPr>
        <p:spPr>
          <a:xfrm flipH="1">
            <a:off x="7200359" y="1640305"/>
            <a:ext cx="4991640" cy="1681903"/>
          </a:xfrm>
          <a:custGeom>
            <a:avLst/>
            <a:gdLst>
              <a:gd name="connsiteX0" fmla="*/ 4991640 w 4991640"/>
              <a:gd name="connsiteY0" fmla="*/ 0 h 1681903"/>
              <a:gd name="connsiteX1" fmla="*/ 0 w 4991640"/>
              <a:gd name="connsiteY1" fmla="*/ 0 h 1681903"/>
              <a:gd name="connsiteX2" fmla="*/ 0 w 4991640"/>
              <a:gd name="connsiteY2" fmla="*/ 1681903 h 1681903"/>
              <a:gd name="connsiteX3" fmla="*/ 4034465 w 4991640"/>
              <a:gd name="connsiteY3" fmla="*/ 1681903 h 168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640" h="1681903">
                <a:moveTo>
                  <a:pt x="4991640" y="0"/>
                </a:moveTo>
                <a:lnTo>
                  <a:pt x="0" y="0"/>
                </a:lnTo>
                <a:lnTo>
                  <a:pt x="0" y="1681903"/>
                </a:lnTo>
                <a:lnTo>
                  <a:pt x="4034465" y="168190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F605787E-6321-568B-B82C-93AFB5FE9B6E}"/>
              </a:ext>
            </a:extLst>
          </p:cNvPr>
          <p:cNvSpPr/>
          <p:nvPr/>
        </p:nvSpPr>
        <p:spPr>
          <a:xfrm>
            <a:off x="0" y="1640305"/>
            <a:ext cx="4991641" cy="1681903"/>
          </a:xfrm>
          <a:custGeom>
            <a:avLst/>
            <a:gdLst>
              <a:gd name="connsiteX0" fmla="*/ 0 w 4991641"/>
              <a:gd name="connsiteY0" fmla="*/ 0 h 1681903"/>
              <a:gd name="connsiteX1" fmla="*/ 4991641 w 4991641"/>
              <a:gd name="connsiteY1" fmla="*/ 0 h 1681903"/>
              <a:gd name="connsiteX2" fmla="*/ 4034466 w 4991641"/>
              <a:gd name="connsiteY2" fmla="*/ 1681903 h 1681903"/>
              <a:gd name="connsiteX3" fmla="*/ 0 w 4991641"/>
              <a:gd name="connsiteY3" fmla="*/ 1681903 h 168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641" h="1681903">
                <a:moveTo>
                  <a:pt x="0" y="0"/>
                </a:moveTo>
                <a:lnTo>
                  <a:pt x="4991641" y="0"/>
                </a:lnTo>
                <a:lnTo>
                  <a:pt x="4034466" y="1681903"/>
                </a:lnTo>
                <a:lnTo>
                  <a:pt x="0" y="168190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E05AA9-E657-9EEB-0676-6A32B7AA7F3D}"/>
              </a:ext>
            </a:extLst>
          </p:cNvPr>
          <p:cNvSpPr/>
          <p:nvPr/>
        </p:nvSpPr>
        <p:spPr>
          <a:xfrm>
            <a:off x="3595297" y="1640305"/>
            <a:ext cx="2396089" cy="1681904"/>
          </a:xfrm>
          <a:custGeom>
            <a:avLst/>
            <a:gdLst>
              <a:gd name="connsiteX0" fmla="*/ 1213 w 1847066"/>
              <a:gd name="connsiteY0" fmla="*/ 0 h 1296524"/>
              <a:gd name="connsiteX1" fmla="*/ 1075559 w 1847066"/>
              <a:gd name="connsiteY1" fmla="*/ 0 h 1296524"/>
              <a:gd name="connsiteX2" fmla="*/ 1728879 w 1847066"/>
              <a:gd name="connsiteY2" fmla="*/ 653320 h 1296524"/>
              <a:gd name="connsiteX3" fmla="*/ 1847066 w 1847066"/>
              <a:gd name="connsiteY3" fmla="*/ 535132 h 1296524"/>
              <a:gd name="connsiteX4" fmla="*/ 1847066 w 1847066"/>
              <a:gd name="connsiteY4" fmla="*/ 1296524 h 1296524"/>
              <a:gd name="connsiteX5" fmla="*/ 1085674 w 1847066"/>
              <a:gd name="connsiteY5" fmla="*/ 1296524 h 1296524"/>
              <a:gd name="connsiteX6" fmla="*/ 1190493 w 1847066"/>
              <a:gd name="connsiteY6" fmla="*/ 1191705 h 1296524"/>
              <a:gd name="connsiteX7" fmla="*/ 0 w 1847066"/>
              <a:gd name="connsiteY7" fmla="*/ 1213 h 1296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7066" h="1296524">
                <a:moveTo>
                  <a:pt x="1213" y="0"/>
                </a:moveTo>
                <a:lnTo>
                  <a:pt x="1075559" y="0"/>
                </a:lnTo>
                <a:lnTo>
                  <a:pt x="1728879" y="653320"/>
                </a:lnTo>
                <a:lnTo>
                  <a:pt x="1847066" y="535132"/>
                </a:lnTo>
                <a:lnTo>
                  <a:pt x="1847066" y="1296524"/>
                </a:lnTo>
                <a:lnTo>
                  <a:pt x="1085674" y="1296524"/>
                </a:lnTo>
                <a:lnTo>
                  <a:pt x="1190493" y="1191705"/>
                </a:lnTo>
                <a:lnTo>
                  <a:pt x="0" y="121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5DDE33-3974-CA14-9367-918CCDEA7CCF}"/>
              </a:ext>
            </a:extLst>
          </p:cNvPr>
          <p:cNvSpPr/>
          <p:nvPr/>
        </p:nvSpPr>
        <p:spPr>
          <a:xfrm flipH="1">
            <a:off x="6200614" y="1640305"/>
            <a:ext cx="2396089" cy="1681904"/>
          </a:xfrm>
          <a:custGeom>
            <a:avLst/>
            <a:gdLst>
              <a:gd name="connsiteX0" fmla="*/ 1213 w 1847066"/>
              <a:gd name="connsiteY0" fmla="*/ 0 h 1296524"/>
              <a:gd name="connsiteX1" fmla="*/ 1075559 w 1847066"/>
              <a:gd name="connsiteY1" fmla="*/ 0 h 1296524"/>
              <a:gd name="connsiteX2" fmla="*/ 1728879 w 1847066"/>
              <a:gd name="connsiteY2" fmla="*/ 653320 h 1296524"/>
              <a:gd name="connsiteX3" fmla="*/ 1847066 w 1847066"/>
              <a:gd name="connsiteY3" fmla="*/ 535132 h 1296524"/>
              <a:gd name="connsiteX4" fmla="*/ 1847066 w 1847066"/>
              <a:gd name="connsiteY4" fmla="*/ 1296524 h 1296524"/>
              <a:gd name="connsiteX5" fmla="*/ 1085674 w 1847066"/>
              <a:gd name="connsiteY5" fmla="*/ 1296524 h 1296524"/>
              <a:gd name="connsiteX6" fmla="*/ 1190493 w 1847066"/>
              <a:gd name="connsiteY6" fmla="*/ 1191705 h 1296524"/>
              <a:gd name="connsiteX7" fmla="*/ 0 w 1847066"/>
              <a:gd name="connsiteY7" fmla="*/ 1213 h 1296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7066" h="1296524">
                <a:moveTo>
                  <a:pt x="1213" y="0"/>
                </a:moveTo>
                <a:lnTo>
                  <a:pt x="1075559" y="0"/>
                </a:lnTo>
                <a:lnTo>
                  <a:pt x="1728879" y="653320"/>
                </a:lnTo>
                <a:lnTo>
                  <a:pt x="1847066" y="535132"/>
                </a:lnTo>
                <a:lnTo>
                  <a:pt x="1847066" y="1296524"/>
                </a:lnTo>
                <a:lnTo>
                  <a:pt x="1085674" y="1296524"/>
                </a:lnTo>
                <a:lnTo>
                  <a:pt x="1190493" y="1191705"/>
                </a:lnTo>
                <a:lnTo>
                  <a:pt x="0" y="121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338C203-3A24-5DAE-22AB-05E4E4797D7F}"/>
              </a:ext>
            </a:extLst>
          </p:cNvPr>
          <p:cNvSpPr/>
          <p:nvPr/>
        </p:nvSpPr>
        <p:spPr>
          <a:xfrm flipV="1">
            <a:off x="3595297" y="3535791"/>
            <a:ext cx="2396089" cy="1681904"/>
          </a:xfrm>
          <a:custGeom>
            <a:avLst/>
            <a:gdLst>
              <a:gd name="connsiteX0" fmla="*/ 1213 w 1847066"/>
              <a:gd name="connsiteY0" fmla="*/ 0 h 1296524"/>
              <a:gd name="connsiteX1" fmla="*/ 1075559 w 1847066"/>
              <a:gd name="connsiteY1" fmla="*/ 0 h 1296524"/>
              <a:gd name="connsiteX2" fmla="*/ 1728879 w 1847066"/>
              <a:gd name="connsiteY2" fmla="*/ 653320 h 1296524"/>
              <a:gd name="connsiteX3" fmla="*/ 1847066 w 1847066"/>
              <a:gd name="connsiteY3" fmla="*/ 535132 h 1296524"/>
              <a:gd name="connsiteX4" fmla="*/ 1847066 w 1847066"/>
              <a:gd name="connsiteY4" fmla="*/ 1296524 h 1296524"/>
              <a:gd name="connsiteX5" fmla="*/ 1085674 w 1847066"/>
              <a:gd name="connsiteY5" fmla="*/ 1296524 h 1296524"/>
              <a:gd name="connsiteX6" fmla="*/ 1190493 w 1847066"/>
              <a:gd name="connsiteY6" fmla="*/ 1191705 h 1296524"/>
              <a:gd name="connsiteX7" fmla="*/ 0 w 1847066"/>
              <a:gd name="connsiteY7" fmla="*/ 1213 h 1296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7066" h="1296524">
                <a:moveTo>
                  <a:pt x="1213" y="0"/>
                </a:moveTo>
                <a:lnTo>
                  <a:pt x="1075559" y="0"/>
                </a:lnTo>
                <a:lnTo>
                  <a:pt x="1728879" y="653320"/>
                </a:lnTo>
                <a:lnTo>
                  <a:pt x="1847066" y="535132"/>
                </a:lnTo>
                <a:lnTo>
                  <a:pt x="1847066" y="1296524"/>
                </a:lnTo>
                <a:lnTo>
                  <a:pt x="1085674" y="1296524"/>
                </a:lnTo>
                <a:lnTo>
                  <a:pt x="1190493" y="1191705"/>
                </a:lnTo>
                <a:lnTo>
                  <a:pt x="0" y="121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922277A-D364-2A90-3C19-AB2E69A3927F}"/>
              </a:ext>
            </a:extLst>
          </p:cNvPr>
          <p:cNvSpPr/>
          <p:nvPr/>
        </p:nvSpPr>
        <p:spPr>
          <a:xfrm flipH="1" flipV="1">
            <a:off x="6200614" y="3543364"/>
            <a:ext cx="2396089" cy="1681904"/>
          </a:xfrm>
          <a:custGeom>
            <a:avLst/>
            <a:gdLst>
              <a:gd name="connsiteX0" fmla="*/ 1213 w 1847066"/>
              <a:gd name="connsiteY0" fmla="*/ 0 h 1296524"/>
              <a:gd name="connsiteX1" fmla="*/ 1075559 w 1847066"/>
              <a:gd name="connsiteY1" fmla="*/ 0 h 1296524"/>
              <a:gd name="connsiteX2" fmla="*/ 1728879 w 1847066"/>
              <a:gd name="connsiteY2" fmla="*/ 653320 h 1296524"/>
              <a:gd name="connsiteX3" fmla="*/ 1847066 w 1847066"/>
              <a:gd name="connsiteY3" fmla="*/ 535132 h 1296524"/>
              <a:gd name="connsiteX4" fmla="*/ 1847066 w 1847066"/>
              <a:gd name="connsiteY4" fmla="*/ 1296524 h 1296524"/>
              <a:gd name="connsiteX5" fmla="*/ 1085674 w 1847066"/>
              <a:gd name="connsiteY5" fmla="*/ 1296524 h 1296524"/>
              <a:gd name="connsiteX6" fmla="*/ 1190493 w 1847066"/>
              <a:gd name="connsiteY6" fmla="*/ 1191705 h 1296524"/>
              <a:gd name="connsiteX7" fmla="*/ 0 w 1847066"/>
              <a:gd name="connsiteY7" fmla="*/ 1213 h 1296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7066" h="1296524">
                <a:moveTo>
                  <a:pt x="1213" y="0"/>
                </a:moveTo>
                <a:lnTo>
                  <a:pt x="1075559" y="0"/>
                </a:lnTo>
                <a:lnTo>
                  <a:pt x="1728879" y="653320"/>
                </a:lnTo>
                <a:lnTo>
                  <a:pt x="1847066" y="535132"/>
                </a:lnTo>
                <a:lnTo>
                  <a:pt x="1847066" y="1296524"/>
                </a:lnTo>
                <a:lnTo>
                  <a:pt x="1085674" y="1296524"/>
                </a:lnTo>
                <a:lnTo>
                  <a:pt x="1190493" y="1191705"/>
                </a:lnTo>
                <a:lnTo>
                  <a:pt x="0" y="121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3DDA8E-0B62-161E-B9F4-ADF3D704B873}"/>
              </a:ext>
            </a:extLst>
          </p:cNvPr>
          <p:cNvSpPr txBox="1"/>
          <p:nvPr/>
        </p:nvSpPr>
        <p:spPr>
          <a:xfrm>
            <a:off x="5287315" y="2491054"/>
            <a:ext cx="3962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endParaRPr lang="en-ID" sz="4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BB39A6-185D-C10A-8C1A-563340F131A8}"/>
              </a:ext>
            </a:extLst>
          </p:cNvPr>
          <p:cNvSpPr txBox="1"/>
          <p:nvPr/>
        </p:nvSpPr>
        <p:spPr>
          <a:xfrm>
            <a:off x="6368160" y="2491053"/>
            <a:ext cx="5068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endParaRPr lang="en-ID" sz="4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1750BA2-6C38-666C-1790-0FB808A35C8D}"/>
              </a:ext>
            </a:extLst>
          </p:cNvPr>
          <p:cNvSpPr txBox="1"/>
          <p:nvPr/>
        </p:nvSpPr>
        <p:spPr>
          <a:xfrm>
            <a:off x="5287315" y="3597507"/>
            <a:ext cx="526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endParaRPr lang="en-ID" sz="4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61919E0-BEDA-751D-9DDE-10916D2C5F1E}"/>
              </a:ext>
            </a:extLst>
          </p:cNvPr>
          <p:cNvSpPr txBox="1"/>
          <p:nvPr/>
        </p:nvSpPr>
        <p:spPr>
          <a:xfrm>
            <a:off x="6343379" y="3550884"/>
            <a:ext cx="5661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endParaRPr lang="en-ID" sz="4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8D7C3639-0310-6457-6FFA-95B62120610A}"/>
              </a:ext>
            </a:extLst>
          </p:cNvPr>
          <p:cNvGrpSpPr/>
          <p:nvPr/>
        </p:nvGrpSpPr>
        <p:grpSpPr>
          <a:xfrm>
            <a:off x="256672" y="1742592"/>
            <a:ext cx="3299623" cy="1107997"/>
            <a:chOff x="256672" y="1794483"/>
            <a:chExt cx="3299623" cy="110799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72F03313-A9DF-9F7A-6F73-F97183A13BD4}"/>
                </a:ext>
              </a:extLst>
            </p:cNvPr>
            <p:cNvSpPr txBox="1"/>
            <p:nvPr/>
          </p:nvSpPr>
          <p:spPr>
            <a:xfrm>
              <a:off x="256672" y="1794483"/>
              <a:ext cx="2932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Function Purpose</a:t>
              </a:r>
              <a:endParaRPr lang="en-ID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84368B4-21FF-601B-6433-ADEDE3573D02}"/>
                </a:ext>
              </a:extLst>
            </p:cNvPr>
            <p:cNvSpPr txBox="1"/>
            <p:nvPr/>
          </p:nvSpPr>
          <p:spPr>
            <a:xfrm>
              <a:off x="256672" y="2256149"/>
              <a:ext cx="329962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v"/>
              </a:pPr>
              <a:r>
                <a:rPr lang="en-US" sz="1200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addStudent</a:t>
              </a: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() Adds a new student</a:t>
              </a:r>
            </a:p>
            <a:p>
              <a:pPr marL="171450" indent="-171450" algn="just">
                <a:buFont typeface="Wingdings" panose="05000000000000000000" pitchFamily="2" charset="2"/>
                <a:buChar char="v"/>
              </a:pPr>
              <a:endPara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v"/>
              </a:pPr>
              <a:r>
                <a:rPr lang="en-US" sz="1200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viewAllStudents</a:t>
              </a: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() Displays all students</a:t>
              </a:r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06B837B-C021-F30F-5884-DF3488B8A423}"/>
              </a:ext>
            </a:extLst>
          </p:cNvPr>
          <p:cNvGrpSpPr/>
          <p:nvPr/>
        </p:nvGrpSpPr>
        <p:grpSpPr>
          <a:xfrm>
            <a:off x="256672" y="3638079"/>
            <a:ext cx="3299623" cy="1477329"/>
            <a:chOff x="256672" y="1794483"/>
            <a:chExt cx="3299623" cy="1477329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8A3AA770-3E0C-75BF-A4BF-476792803736}"/>
                </a:ext>
              </a:extLst>
            </p:cNvPr>
            <p:cNvSpPr txBox="1"/>
            <p:nvPr/>
          </p:nvSpPr>
          <p:spPr>
            <a:xfrm>
              <a:off x="256672" y="1794483"/>
              <a:ext cx="2932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Function Purpose</a:t>
              </a:r>
              <a:endParaRPr lang="en-ID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B4872AB-0458-02D4-CE52-BB643216D20E}"/>
                </a:ext>
              </a:extLst>
            </p:cNvPr>
            <p:cNvSpPr txBox="1"/>
            <p:nvPr/>
          </p:nvSpPr>
          <p:spPr>
            <a:xfrm>
              <a:off x="256672" y="2256149"/>
              <a:ext cx="3299623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indent="-228600">
                <a:buFont typeface="Wingdings" panose="05000000000000000000" pitchFamily="2" charset="2"/>
                <a:buChar char="v"/>
              </a:pPr>
              <a:r>
                <a:rPr lang="en-US" sz="12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markAttendance() Marks attendance for a student</a:t>
              </a:r>
            </a:p>
            <a:p>
              <a:pPr marL="228600" indent="-228600">
                <a:buFont typeface="Wingdings" panose="05000000000000000000" pitchFamily="2" charset="2"/>
                <a:buChar char="v"/>
              </a:pPr>
              <a:endParaRPr lang="en-US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28600" indent="-228600">
                <a:buFont typeface="Wingdings" panose="05000000000000000000" pitchFamily="2" charset="2"/>
                <a:buChar char="v"/>
              </a:pPr>
              <a:r>
                <a:rPr lang="en-US" sz="12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viewStudentAttendance() Displays attendance records for a student</a:t>
              </a:r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6C3E049-F286-EC75-80BA-D5AB03223E6F}"/>
              </a:ext>
            </a:extLst>
          </p:cNvPr>
          <p:cNvGrpSpPr/>
          <p:nvPr/>
        </p:nvGrpSpPr>
        <p:grpSpPr>
          <a:xfrm>
            <a:off x="8635705" y="1742592"/>
            <a:ext cx="3299623" cy="923331"/>
            <a:chOff x="256672" y="1794483"/>
            <a:chExt cx="3299623" cy="923331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91C207F-95A4-D95F-9838-DB9BE4396BF6}"/>
                </a:ext>
              </a:extLst>
            </p:cNvPr>
            <p:cNvSpPr txBox="1"/>
            <p:nvPr/>
          </p:nvSpPr>
          <p:spPr>
            <a:xfrm>
              <a:off x="256672" y="1794483"/>
              <a:ext cx="2932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Function Purpose</a:t>
              </a:r>
              <a:endParaRPr lang="en-ID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2ED0E0C2-FF8C-ECEC-C2CC-5F4FF48E4613}"/>
                </a:ext>
              </a:extLst>
            </p:cNvPr>
            <p:cNvSpPr txBox="1"/>
            <p:nvPr/>
          </p:nvSpPr>
          <p:spPr>
            <a:xfrm>
              <a:off x="256672" y="2256149"/>
              <a:ext cx="32996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clearScreen</a:t>
              </a: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() Clears console screen (Windows only)</a:t>
              </a:r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42271244-8525-161E-DB55-66C6E6742576}"/>
              </a:ext>
            </a:extLst>
          </p:cNvPr>
          <p:cNvGrpSpPr/>
          <p:nvPr/>
        </p:nvGrpSpPr>
        <p:grpSpPr>
          <a:xfrm>
            <a:off x="8635705" y="3638079"/>
            <a:ext cx="3299623" cy="923331"/>
            <a:chOff x="256672" y="1794483"/>
            <a:chExt cx="3299623" cy="923331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F2CDC962-8ECD-ECA3-E58B-8F40F3DC3DAE}"/>
                </a:ext>
              </a:extLst>
            </p:cNvPr>
            <p:cNvSpPr txBox="1"/>
            <p:nvPr/>
          </p:nvSpPr>
          <p:spPr>
            <a:xfrm>
              <a:off x="256672" y="1794483"/>
              <a:ext cx="2932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Function Purpose</a:t>
              </a:r>
              <a:endParaRPr lang="en-ID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BB4F87A0-3988-01A3-E7C5-D079EB132C78}"/>
                </a:ext>
              </a:extLst>
            </p:cNvPr>
            <p:cNvSpPr txBox="1"/>
            <p:nvPr/>
          </p:nvSpPr>
          <p:spPr>
            <a:xfrm>
              <a:off x="256672" y="2256149"/>
              <a:ext cx="32996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v"/>
              </a:pPr>
              <a:r>
                <a:rPr lang="en-US" sz="1200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pauseProgram</a:t>
              </a: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() Pauses execution and waits for user input</a:t>
              </a:r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60F97799-87AA-1844-211A-082A9211D778}"/>
              </a:ext>
            </a:extLst>
          </p:cNvPr>
          <p:cNvSpPr txBox="1"/>
          <p:nvPr/>
        </p:nvSpPr>
        <p:spPr>
          <a:xfrm>
            <a:off x="3976671" y="106799"/>
            <a:ext cx="4238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Function Summary</a:t>
            </a:r>
            <a:endParaRPr lang="en-ID" sz="3200" b="1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7B386F1B-74E6-E24D-B715-9D8354A6832F}"/>
              </a:ext>
            </a:extLst>
          </p:cNvPr>
          <p:cNvCxnSpPr>
            <a:cxnSpLocks/>
          </p:cNvCxnSpPr>
          <p:nvPr/>
        </p:nvCxnSpPr>
        <p:spPr>
          <a:xfrm>
            <a:off x="2445224" y="7014951"/>
            <a:ext cx="730155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7627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875">
        <p159:morph option="byObject"/>
      </p:transition>
    </mc:Choice>
    <mc:Fallback xmlns="">
      <p:transition spd="slow" advTm="387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833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decel="5833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2" decel="5833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decel="5833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4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9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4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3" grpId="0" animBg="1"/>
      <p:bldP spid="75" grpId="0" animBg="1"/>
      <p:bldP spid="71" grpId="0" animBg="1"/>
      <p:bldP spid="14" grpId="0" animBg="1"/>
      <p:bldP spid="15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719C3041-A4C6-5ADE-DAF4-52E4653A6472}"/>
              </a:ext>
            </a:extLst>
          </p:cNvPr>
          <p:cNvSpPr/>
          <p:nvPr/>
        </p:nvSpPr>
        <p:spPr>
          <a:xfrm flipH="1" flipV="1">
            <a:off x="7200359" y="2771516"/>
            <a:ext cx="4991640" cy="1681903"/>
          </a:xfrm>
          <a:custGeom>
            <a:avLst/>
            <a:gdLst>
              <a:gd name="connsiteX0" fmla="*/ 4034465 w 4991640"/>
              <a:gd name="connsiteY0" fmla="*/ 1681903 h 1681903"/>
              <a:gd name="connsiteX1" fmla="*/ 0 w 4991640"/>
              <a:gd name="connsiteY1" fmla="*/ 1681903 h 1681903"/>
              <a:gd name="connsiteX2" fmla="*/ 0 w 4991640"/>
              <a:gd name="connsiteY2" fmla="*/ 0 h 1681903"/>
              <a:gd name="connsiteX3" fmla="*/ 4991640 w 4991640"/>
              <a:gd name="connsiteY3" fmla="*/ 0 h 168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640" h="1681903">
                <a:moveTo>
                  <a:pt x="4034465" y="1681903"/>
                </a:moveTo>
                <a:lnTo>
                  <a:pt x="0" y="1681903"/>
                </a:lnTo>
                <a:lnTo>
                  <a:pt x="0" y="0"/>
                </a:lnTo>
                <a:lnTo>
                  <a:pt x="4991640" y="0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73" name="Freeform: Shape 72">
            <a:extLst>
              <a:ext uri="{FF2B5EF4-FFF2-40B4-BE49-F238E27FC236}">
                <a16:creationId xmlns:a16="http://schemas.microsoft.com/office/drawing/2014/main" id="{C01948F9-C060-33DE-ABED-C34460D47CDE}"/>
              </a:ext>
            </a:extLst>
          </p:cNvPr>
          <p:cNvSpPr/>
          <p:nvPr/>
        </p:nvSpPr>
        <p:spPr>
          <a:xfrm flipV="1">
            <a:off x="0" y="2771516"/>
            <a:ext cx="4991641" cy="1681903"/>
          </a:xfrm>
          <a:custGeom>
            <a:avLst/>
            <a:gdLst>
              <a:gd name="connsiteX0" fmla="*/ 0 w 4991641"/>
              <a:gd name="connsiteY0" fmla="*/ 1681903 h 1681903"/>
              <a:gd name="connsiteX1" fmla="*/ 4034466 w 4991641"/>
              <a:gd name="connsiteY1" fmla="*/ 1681903 h 1681903"/>
              <a:gd name="connsiteX2" fmla="*/ 4991641 w 4991641"/>
              <a:gd name="connsiteY2" fmla="*/ 0 h 1681903"/>
              <a:gd name="connsiteX3" fmla="*/ 0 w 4991641"/>
              <a:gd name="connsiteY3" fmla="*/ 0 h 168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641" h="1681903">
                <a:moveTo>
                  <a:pt x="0" y="1681903"/>
                </a:moveTo>
                <a:lnTo>
                  <a:pt x="4034466" y="1681903"/>
                </a:lnTo>
                <a:lnTo>
                  <a:pt x="4991641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07CCB26D-DC5A-2B1B-D6CD-A612EC929A1A}"/>
              </a:ext>
            </a:extLst>
          </p:cNvPr>
          <p:cNvSpPr/>
          <p:nvPr/>
        </p:nvSpPr>
        <p:spPr>
          <a:xfrm flipH="1">
            <a:off x="7200359" y="876029"/>
            <a:ext cx="4991640" cy="1681903"/>
          </a:xfrm>
          <a:custGeom>
            <a:avLst/>
            <a:gdLst>
              <a:gd name="connsiteX0" fmla="*/ 4991640 w 4991640"/>
              <a:gd name="connsiteY0" fmla="*/ 0 h 1681903"/>
              <a:gd name="connsiteX1" fmla="*/ 0 w 4991640"/>
              <a:gd name="connsiteY1" fmla="*/ 0 h 1681903"/>
              <a:gd name="connsiteX2" fmla="*/ 0 w 4991640"/>
              <a:gd name="connsiteY2" fmla="*/ 1681903 h 1681903"/>
              <a:gd name="connsiteX3" fmla="*/ 4034465 w 4991640"/>
              <a:gd name="connsiteY3" fmla="*/ 1681903 h 168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640" h="1681903">
                <a:moveTo>
                  <a:pt x="4991640" y="0"/>
                </a:moveTo>
                <a:lnTo>
                  <a:pt x="0" y="0"/>
                </a:lnTo>
                <a:lnTo>
                  <a:pt x="0" y="1681903"/>
                </a:lnTo>
                <a:lnTo>
                  <a:pt x="4034465" y="168190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F605787E-6321-568B-B82C-93AFB5FE9B6E}"/>
              </a:ext>
            </a:extLst>
          </p:cNvPr>
          <p:cNvSpPr/>
          <p:nvPr/>
        </p:nvSpPr>
        <p:spPr>
          <a:xfrm>
            <a:off x="0" y="876029"/>
            <a:ext cx="4991641" cy="1681903"/>
          </a:xfrm>
          <a:custGeom>
            <a:avLst/>
            <a:gdLst>
              <a:gd name="connsiteX0" fmla="*/ 0 w 4991641"/>
              <a:gd name="connsiteY0" fmla="*/ 0 h 1681903"/>
              <a:gd name="connsiteX1" fmla="*/ 4991641 w 4991641"/>
              <a:gd name="connsiteY1" fmla="*/ 0 h 1681903"/>
              <a:gd name="connsiteX2" fmla="*/ 4034466 w 4991641"/>
              <a:gd name="connsiteY2" fmla="*/ 1681903 h 1681903"/>
              <a:gd name="connsiteX3" fmla="*/ 0 w 4991641"/>
              <a:gd name="connsiteY3" fmla="*/ 1681903 h 168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91641" h="1681903">
                <a:moveTo>
                  <a:pt x="0" y="0"/>
                </a:moveTo>
                <a:lnTo>
                  <a:pt x="4991641" y="0"/>
                </a:lnTo>
                <a:lnTo>
                  <a:pt x="4034466" y="1681903"/>
                </a:lnTo>
                <a:lnTo>
                  <a:pt x="0" y="168190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0E05AA9-E657-9EEB-0676-6A32B7AA7F3D}"/>
              </a:ext>
            </a:extLst>
          </p:cNvPr>
          <p:cNvSpPr/>
          <p:nvPr/>
        </p:nvSpPr>
        <p:spPr>
          <a:xfrm>
            <a:off x="3595297" y="876029"/>
            <a:ext cx="2396089" cy="1681904"/>
          </a:xfrm>
          <a:custGeom>
            <a:avLst/>
            <a:gdLst>
              <a:gd name="connsiteX0" fmla="*/ 1213 w 1847066"/>
              <a:gd name="connsiteY0" fmla="*/ 0 h 1296524"/>
              <a:gd name="connsiteX1" fmla="*/ 1075559 w 1847066"/>
              <a:gd name="connsiteY1" fmla="*/ 0 h 1296524"/>
              <a:gd name="connsiteX2" fmla="*/ 1728879 w 1847066"/>
              <a:gd name="connsiteY2" fmla="*/ 653320 h 1296524"/>
              <a:gd name="connsiteX3" fmla="*/ 1847066 w 1847066"/>
              <a:gd name="connsiteY3" fmla="*/ 535132 h 1296524"/>
              <a:gd name="connsiteX4" fmla="*/ 1847066 w 1847066"/>
              <a:gd name="connsiteY4" fmla="*/ 1296524 h 1296524"/>
              <a:gd name="connsiteX5" fmla="*/ 1085674 w 1847066"/>
              <a:gd name="connsiteY5" fmla="*/ 1296524 h 1296524"/>
              <a:gd name="connsiteX6" fmla="*/ 1190493 w 1847066"/>
              <a:gd name="connsiteY6" fmla="*/ 1191705 h 1296524"/>
              <a:gd name="connsiteX7" fmla="*/ 0 w 1847066"/>
              <a:gd name="connsiteY7" fmla="*/ 1213 h 1296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7066" h="1296524">
                <a:moveTo>
                  <a:pt x="1213" y="0"/>
                </a:moveTo>
                <a:lnTo>
                  <a:pt x="1075559" y="0"/>
                </a:lnTo>
                <a:lnTo>
                  <a:pt x="1728879" y="653320"/>
                </a:lnTo>
                <a:lnTo>
                  <a:pt x="1847066" y="535132"/>
                </a:lnTo>
                <a:lnTo>
                  <a:pt x="1847066" y="1296524"/>
                </a:lnTo>
                <a:lnTo>
                  <a:pt x="1085674" y="1296524"/>
                </a:lnTo>
                <a:lnTo>
                  <a:pt x="1190493" y="1191705"/>
                </a:lnTo>
                <a:lnTo>
                  <a:pt x="0" y="121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5DDE33-3974-CA14-9367-918CCDEA7CCF}"/>
              </a:ext>
            </a:extLst>
          </p:cNvPr>
          <p:cNvSpPr/>
          <p:nvPr/>
        </p:nvSpPr>
        <p:spPr>
          <a:xfrm flipH="1">
            <a:off x="6200614" y="876029"/>
            <a:ext cx="2396089" cy="1681904"/>
          </a:xfrm>
          <a:custGeom>
            <a:avLst/>
            <a:gdLst>
              <a:gd name="connsiteX0" fmla="*/ 1213 w 1847066"/>
              <a:gd name="connsiteY0" fmla="*/ 0 h 1296524"/>
              <a:gd name="connsiteX1" fmla="*/ 1075559 w 1847066"/>
              <a:gd name="connsiteY1" fmla="*/ 0 h 1296524"/>
              <a:gd name="connsiteX2" fmla="*/ 1728879 w 1847066"/>
              <a:gd name="connsiteY2" fmla="*/ 653320 h 1296524"/>
              <a:gd name="connsiteX3" fmla="*/ 1847066 w 1847066"/>
              <a:gd name="connsiteY3" fmla="*/ 535132 h 1296524"/>
              <a:gd name="connsiteX4" fmla="*/ 1847066 w 1847066"/>
              <a:gd name="connsiteY4" fmla="*/ 1296524 h 1296524"/>
              <a:gd name="connsiteX5" fmla="*/ 1085674 w 1847066"/>
              <a:gd name="connsiteY5" fmla="*/ 1296524 h 1296524"/>
              <a:gd name="connsiteX6" fmla="*/ 1190493 w 1847066"/>
              <a:gd name="connsiteY6" fmla="*/ 1191705 h 1296524"/>
              <a:gd name="connsiteX7" fmla="*/ 0 w 1847066"/>
              <a:gd name="connsiteY7" fmla="*/ 1213 h 1296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7066" h="1296524">
                <a:moveTo>
                  <a:pt x="1213" y="0"/>
                </a:moveTo>
                <a:lnTo>
                  <a:pt x="1075559" y="0"/>
                </a:lnTo>
                <a:lnTo>
                  <a:pt x="1728879" y="653320"/>
                </a:lnTo>
                <a:lnTo>
                  <a:pt x="1847066" y="535132"/>
                </a:lnTo>
                <a:lnTo>
                  <a:pt x="1847066" y="1296524"/>
                </a:lnTo>
                <a:lnTo>
                  <a:pt x="1085674" y="1296524"/>
                </a:lnTo>
                <a:lnTo>
                  <a:pt x="1190493" y="1191705"/>
                </a:lnTo>
                <a:lnTo>
                  <a:pt x="0" y="121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338C203-3A24-5DAE-22AB-05E4E4797D7F}"/>
              </a:ext>
            </a:extLst>
          </p:cNvPr>
          <p:cNvSpPr/>
          <p:nvPr/>
        </p:nvSpPr>
        <p:spPr>
          <a:xfrm flipV="1">
            <a:off x="3595297" y="2771515"/>
            <a:ext cx="2396089" cy="1681904"/>
          </a:xfrm>
          <a:custGeom>
            <a:avLst/>
            <a:gdLst>
              <a:gd name="connsiteX0" fmla="*/ 1213 w 1847066"/>
              <a:gd name="connsiteY0" fmla="*/ 0 h 1296524"/>
              <a:gd name="connsiteX1" fmla="*/ 1075559 w 1847066"/>
              <a:gd name="connsiteY1" fmla="*/ 0 h 1296524"/>
              <a:gd name="connsiteX2" fmla="*/ 1728879 w 1847066"/>
              <a:gd name="connsiteY2" fmla="*/ 653320 h 1296524"/>
              <a:gd name="connsiteX3" fmla="*/ 1847066 w 1847066"/>
              <a:gd name="connsiteY3" fmla="*/ 535132 h 1296524"/>
              <a:gd name="connsiteX4" fmla="*/ 1847066 w 1847066"/>
              <a:gd name="connsiteY4" fmla="*/ 1296524 h 1296524"/>
              <a:gd name="connsiteX5" fmla="*/ 1085674 w 1847066"/>
              <a:gd name="connsiteY5" fmla="*/ 1296524 h 1296524"/>
              <a:gd name="connsiteX6" fmla="*/ 1190493 w 1847066"/>
              <a:gd name="connsiteY6" fmla="*/ 1191705 h 1296524"/>
              <a:gd name="connsiteX7" fmla="*/ 0 w 1847066"/>
              <a:gd name="connsiteY7" fmla="*/ 1213 h 1296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7066" h="1296524">
                <a:moveTo>
                  <a:pt x="1213" y="0"/>
                </a:moveTo>
                <a:lnTo>
                  <a:pt x="1075559" y="0"/>
                </a:lnTo>
                <a:lnTo>
                  <a:pt x="1728879" y="653320"/>
                </a:lnTo>
                <a:lnTo>
                  <a:pt x="1847066" y="535132"/>
                </a:lnTo>
                <a:lnTo>
                  <a:pt x="1847066" y="1296524"/>
                </a:lnTo>
                <a:lnTo>
                  <a:pt x="1085674" y="1296524"/>
                </a:lnTo>
                <a:lnTo>
                  <a:pt x="1190493" y="1191705"/>
                </a:lnTo>
                <a:lnTo>
                  <a:pt x="0" y="121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922277A-D364-2A90-3C19-AB2E69A3927F}"/>
              </a:ext>
            </a:extLst>
          </p:cNvPr>
          <p:cNvSpPr/>
          <p:nvPr/>
        </p:nvSpPr>
        <p:spPr>
          <a:xfrm flipH="1" flipV="1">
            <a:off x="6200614" y="2771515"/>
            <a:ext cx="2396089" cy="1681904"/>
          </a:xfrm>
          <a:custGeom>
            <a:avLst/>
            <a:gdLst>
              <a:gd name="connsiteX0" fmla="*/ 1213 w 1847066"/>
              <a:gd name="connsiteY0" fmla="*/ 0 h 1296524"/>
              <a:gd name="connsiteX1" fmla="*/ 1075559 w 1847066"/>
              <a:gd name="connsiteY1" fmla="*/ 0 h 1296524"/>
              <a:gd name="connsiteX2" fmla="*/ 1728879 w 1847066"/>
              <a:gd name="connsiteY2" fmla="*/ 653320 h 1296524"/>
              <a:gd name="connsiteX3" fmla="*/ 1847066 w 1847066"/>
              <a:gd name="connsiteY3" fmla="*/ 535132 h 1296524"/>
              <a:gd name="connsiteX4" fmla="*/ 1847066 w 1847066"/>
              <a:gd name="connsiteY4" fmla="*/ 1296524 h 1296524"/>
              <a:gd name="connsiteX5" fmla="*/ 1085674 w 1847066"/>
              <a:gd name="connsiteY5" fmla="*/ 1296524 h 1296524"/>
              <a:gd name="connsiteX6" fmla="*/ 1190493 w 1847066"/>
              <a:gd name="connsiteY6" fmla="*/ 1191705 h 1296524"/>
              <a:gd name="connsiteX7" fmla="*/ 0 w 1847066"/>
              <a:gd name="connsiteY7" fmla="*/ 1213 h 12965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47066" h="1296524">
                <a:moveTo>
                  <a:pt x="1213" y="0"/>
                </a:moveTo>
                <a:lnTo>
                  <a:pt x="1075559" y="0"/>
                </a:lnTo>
                <a:lnTo>
                  <a:pt x="1728879" y="653320"/>
                </a:lnTo>
                <a:lnTo>
                  <a:pt x="1847066" y="535132"/>
                </a:lnTo>
                <a:lnTo>
                  <a:pt x="1847066" y="1296524"/>
                </a:lnTo>
                <a:lnTo>
                  <a:pt x="1085674" y="1296524"/>
                </a:lnTo>
                <a:lnTo>
                  <a:pt x="1190493" y="1191705"/>
                </a:lnTo>
                <a:lnTo>
                  <a:pt x="0" y="1213"/>
                </a:lnTo>
                <a:close/>
              </a:path>
            </a:pathLst>
          </a:cu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D3DDA8E-0B62-161E-B9F4-ADF3D704B873}"/>
              </a:ext>
            </a:extLst>
          </p:cNvPr>
          <p:cNvSpPr txBox="1"/>
          <p:nvPr/>
        </p:nvSpPr>
        <p:spPr>
          <a:xfrm>
            <a:off x="5287315" y="1726778"/>
            <a:ext cx="3962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</a:t>
            </a:r>
            <a:endParaRPr lang="en-ID" sz="4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9BB39A6-185D-C10A-8C1A-563340F131A8}"/>
              </a:ext>
            </a:extLst>
          </p:cNvPr>
          <p:cNvSpPr txBox="1"/>
          <p:nvPr/>
        </p:nvSpPr>
        <p:spPr>
          <a:xfrm>
            <a:off x="6368160" y="1726777"/>
            <a:ext cx="5068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</a:t>
            </a:r>
            <a:endParaRPr lang="en-ID" sz="4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1750BA2-6C38-666C-1790-0FB808A35C8D}"/>
              </a:ext>
            </a:extLst>
          </p:cNvPr>
          <p:cNvSpPr txBox="1"/>
          <p:nvPr/>
        </p:nvSpPr>
        <p:spPr>
          <a:xfrm>
            <a:off x="5287315" y="2833231"/>
            <a:ext cx="526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endParaRPr lang="en-ID" sz="4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61919E0-BEDA-751D-9DDE-10916D2C5F1E}"/>
              </a:ext>
            </a:extLst>
          </p:cNvPr>
          <p:cNvSpPr txBox="1"/>
          <p:nvPr/>
        </p:nvSpPr>
        <p:spPr>
          <a:xfrm>
            <a:off x="6338505" y="2833230"/>
            <a:ext cx="5661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</a:t>
            </a:r>
            <a:endParaRPr lang="en-ID" sz="44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34C432-DB7E-6E1D-3903-A5BC5BDEB09B}"/>
              </a:ext>
            </a:extLst>
          </p:cNvPr>
          <p:cNvCxnSpPr>
            <a:cxnSpLocks/>
          </p:cNvCxnSpPr>
          <p:nvPr/>
        </p:nvCxnSpPr>
        <p:spPr>
          <a:xfrm>
            <a:off x="2445224" y="4735773"/>
            <a:ext cx="7301552" cy="0"/>
          </a:xfrm>
          <a:prstGeom prst="line">
            <a:avLst/>
          </a:prstGeom>
          <a:ln w="38100">
            <a:solidFill>
              <a:schemeClr val="bg2">
                <a:lumMod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AB86B42-16BB-949C-BD81-5CA217123453}"/>
              </a:ext>
            </a:extLst>
          </p:cNvPr>
          <p:cNvSpPr txBox="1"/>
          <p:nvPr/>
        </p:nvSpPr>
        <p:spPr>
          <a:xfrm>
            <a:off x="6045874" y="4943942"/>
            <a:ext cx="370090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All data is lost on program exit (no file saving)</a:t>
            </a:r>
            <a:endParaRPr lang="en-PK" sz="120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Maximum 100 students</a:t>
            </a:r>
            <a:endParaRPr lang="en-PK" sz="120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Maximum 200 attendance records per student</a:t>
            </a:r>
            <a:endParaRPr lang="en-PK" sz="120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Only supports Present / Absent statuses</a:t>
            </a:r>
            <a:endParaRPr lang="en-PK" sz="120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Windows-specific console clear (system("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cls</a:t>
            </a: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"))</a:t>
            </a:r>
            <a:endParaRPr lang="en-PK" sz="120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No duplicate ID prevention or date </a:t>
            </a:r>
            <a:r>
              <a:rPr 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validatio</a:t>
            </a:r>
            <a:endParaRPr lang="en-PK" sz="120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just"/>
            <a:endParaRPr lang="en-ID" sz="1200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CA934E-34AE-4DFB-4A92-FE3608A68235}"/>
              </a:ext>
            </a:extLst>
          </p:cNvPr>
          <p:cNvSpPr txBox="1"/>
          <p:nvPr/>
        </p:nvSpPr>
        <p:spPr>
          <a:xfrm>
            <a:off x="2208862" y="5294371"/>
            <a:ext cx="3873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Limitations</a:t>
            </a:r>
            <a:endParaRPr lang="en-ID" sz="4800" b="1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81B76E-5107-36DA-D57C-98855621F852}"/>
              </a:ext>
            </a:extLst>
          </p:cNvPr>
          <p:cNvSpPr txBox="1"/>
          <p:nvPr/>
        </p:nvSpPr>
        <p:spPr>
          <a:xfrm>
            <a:off x="3976671" y="106799"/>
            <a:ext cx="42386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Function Summary</a:t>
            </a:r>
            <a:endParaRPr lang="en-ID" sz="3200" b="1" dirty="0">
              <a:solidFill>
                <a:schemeClr val="tx1">
                  <a:lumMod val="75000"/>
                  <a:lumOff val="2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AD251CE-3FDA-89AE-ECF6-CE932CC92ACB}"/>
              </a:ext>
            </a:extLst>
          </p:cNvPr>
          <p:cNvGrpSpPr/>
          <p:nvPr/>
        </p:nvGrpSpPr>
        <p:grpSpPr>
          <a:xfrm>
            <a:off x="256672" y="1213203"/>
            <a:ext cx="3299623" cy="1107997"/>
            <a:chOff x="256672" y="1794483"/>
            <a:chExt cx="3299623" cy="1107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BB253F-D708-F086-944D-E0E007381327}"/>
                </a:ext>
              </a:extLst>
            </p:cNvPr>
            <p:cNvSpPr txBox="1"/>
            <p:nvPr/>
          </p:nvSpPr>
          <p:spPr>
            <a:xfrm>
              <a:off x="256672" y="1794483"/>
              <a:ext cx="2932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Function Purpose</a:t>
              </a:r>
              <a:endParaRPr lang="en-ID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512CEE5-5BE7-7ADD-B98E-303768B7704C}"/>
                </a:ext>
              </a:extLst>
            </p:cNvPr>
            <p:cNvSpPr txBox="1"/>
            <p:nvPr/>
          </p:nvSpPr>
          <p:spPr>
            <a:xfrm>
              <a:off x="256672" y="2256149"/>
              <a:ext cx="3299623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v"/>
              </a:pPr>
              <a:r>
                <a:rPr lang="en-US" sz="12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addStudent() Adds a new student</a:t>
              </a:r>
            </a:p>
            <a:p>
              <a:pPr marL="171450" indent="-171450" algn="just">
                <a:buFont typeface="Wingdings" panose="05000000000000000000" pitchFamily="2" charset="2"/>
                <a:buChar char="v"/>
              </a:pPr>
              <a:endParaRPr lang="en-US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171450" indent="-171450" algn="just">
                <a:buFont typeface="Wingdings" panose="05000000000000000000" pitchFamily="2" charset="2"/>
                <a:buChar char="v"/>
              </a:pPr>
              <a:r>
                <a:rPr lang="en-US" sz="120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viewAllStudents() Displays all students</a:t>
              </a:r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B3370C6-BA4F-DE07-7C3C-F63791E50BED}"/>
              </a:ext>
            </a:extLst>
          </p:cNvPr>
          <p:cNvGrpSpPr/>
          <p:nvPr/>
        </p:nvGrpSpPr>
        <p:grpSpPr>
          <a:xfrm>
            <a:off x="256672" y="2858434"/>
            <a:ext cx="3299623" cy="1477329"/>
            <a:chOff x="256672" y="1794483"/>
            <a:chExt cx="3299623" cy="147732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2A0666E-345F-DAA0-BA78-61117F0CB6B4}"/>
                </a:ext>
              </a:extLst>
            </p:cNvPr>
            <p:cNvSpPr txBox="1"/>
            <p:nvPr/>
          </p:nvSpPr>
          <p:spPr>
            <a:xfrm>
              <a:off x="256672" y="1794483"/>
              <a:ext cx="2932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Function Purpose</a:t>
              </a:r>
              <a:endParaRPr lang="en-ID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91C40F6-77FD-EC8C-4D45-4B18FE00603F}"/>
                </a:ext>
              </a:extLst>
            </p:cNvPr>
            <p:cNvSpPr txBox="1"/>
            <p:nvPr/>
          </p:nvSpPr>
          <p:spPr>
            <a:xfrm>
              <a:off x="256672" y="2256149"/>
              <a:ext cx="3299623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28600" indent="-228600">
                <a:buFont typeface="Wingdings" panose="05000000000000000000" pitchFamily="2" charset="2"/>
                <a:buChar char="v"/>
              </a:pPr>
              <a:r>
                <a:rPr lang="en-US" sz="1200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markAttendance</a:t>
              </a: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() Marks attendance for a student</a:t>
              </a:r>
            </a:p>
            <a:p>
              <a:pPr marL="228600" indent="-228600">
                <a:buFont typeface="Wingdings" panose="05000000000000000000" pitchFamily="2" charset="2"/>
                <a:buChar char="v"/>
              </a:pPr>
              <a:endParaRPr lang="en-US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  <a:p>
              <a:pPr marL="228600" indent="-228600">
                <a:buFont typeface="Wingdings" panose="05000000000000000000" pitchFamily="2" charset="2"/>
                <a:buChar char="v"/>
              </a:pPr>
              <a:r>
                <a:rPr lang="en-US" sz="1200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viewStudentAttendance</a:t>
              </a: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() Displays attendance records for a student</a:t>
              </a:r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19CB9EE-B857-25DE-344E-FC6E7BDB1940}"/>
              </a:ext>
            </a:extLst>
          </p:cNvPr>
          <p:cNvGrpSpPr/>
          <p:nvPr/>
        </p:nvGrpSpPr>
        <p:grpSpPr>
          <a:xfrm>
            <a:off x="8635705" y="1166859"/>
            <a:ext cx="3299623" cy="923331"/>
            <a:chOff x="256672" y="1794483"/>
            <a:chExt cx="3299623" cy="92333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B839CBD-EFD6-313A-ED1F-C11CC5A5A29E}"/>
                </a:ext>
              </a:extLst>
            </p:cNvPr>
            <p:cNvSpPr txBox="1"/>
            <p:nvPr/>
          </p:nvSpPr>
          <p:spPr>
            <a:xfrm>
              <a:off x="256672" y="1794483"/>
              <a:ext cx="2932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Function Purpose</a:t>
              </a:r>
              <a:endParaRPr lang="en-ID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31731F-53CD-7DE0-CF3C-D4465D0253A6}"/>
                </a:ext>
              </a:extLst>
            </p:cNvPr>
            <p:cNvSpPr txBox="1"/>
            <p:nvPr/>
          </p:nvSpPr>
          <p:spPr>
            <a:xfrm>
              <a:off x="256672" y="2256149"/>
              <a:ext cx="32996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v"/>
              </a:pPr>
              <a:r>
                <a:rPr lang="en-US" sz="1200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clearScreen</a:t>
              </a: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() Clears console screen (Windows only)</a:t>
              </a:r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D0232A9-2C13-ACBF-7FC4-1347137A1552}"/>
              </a:ext>
            </a:extLst>
          </p:cNvPr>
          <p:cNvGrpSpPr/>
          <p:nvPr/>
        </p:nvGrpSpPr>
        <p:grpSpPr>
          <a:xfrm>
            <a:off x="8635705" y="3127940"/>
            <a:ext cx="3299623" cy="923331"/>
            <a:chOff x="256672" y="1794483"/>
            <a:chExt cx="3299623" cy="92333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579EE8F-471C-2C1E-821D-ADB566F5C6F4}"/>
                </a:ext>
              </a:extLst>
            </p:cNvPr>
            <p:cNvSpPr txBox="1"/>
            <p:nvPr/>
          </p:nvSpPr>
          <p:spPr>
            <a:xfrm>
              <a:off x="256672" y="1794483"/>
              <a:ext cx="293221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Function Purpose</a:t>
              </a:r>
              <a:endParaRPr lang="en-ID" sz="24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042A6B0-7205-1BCE-060E-0D1152DC0EE1}"/>
                </a:ext>
              </a:extLst>
            </p:cNvPr>
            <p:cNvSpPr txBox="1"/>
            <p:nvPr/>
          </p:nvSpPr>
          <p:spPr>
            <a:xfrm>
              <a:off x="256672" y="2256149"/>
              <a:ext cx="329962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algn="just">
                <a:buFont typeface="Wingdings" panose="05000000000000000000" pitchFamily="2" charset="2"/>
                <a:buChar char="v"/>
              </a:pPr>
              <a:r>
                <a:rPr lang="en-US" sz="1200" dirty="0" err="1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pauseProgram</a:t>
              </a:r>
              <a:r>
                <a:rPr lang="en-US" sz="1200" dirty="0">
                  <a:solidFill>
                    <a:schemeClr val="bg1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() Pauses execution and waits for user input</a:t>
              </a:r>
              <a:endParaRPr lang="en-ID" sz="1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2" name="Parallelogram 1">
            <a:extLst>
              <a:ext uri="{FF2B5EF4-FFF2-40B4-BE49-F238E27FC236}">
                <a16:creationId xmlns:a16="http://schemas.microsoft.com/office/drawing/2014/main" id="{6607A985-80EC-970F-2023-DE6972A93C5F}"/>
              </a:ext>
            </a:extLst>
          </p:cNvPr>
          <p:cNvSpPr/>
          <p:nvPr/>
        </p:nvSpPr>
        <p:spPr>
          <a:xfrm flipH="1">
            <a:off x="-6382627" y="2947916"/>
            <a:ext cx="6232478" cy="962170"/>
          </a:xfrm>
          <a:prstGeom prst="parallelogram">
            <a:avLst>
              <a:gd name="adj" fmla="val 63028"/>
            </a:avLst>
          </a:pr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6216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3718">
        <p159:morph option="byObject"/>
      </p:transition>
    </mc:Choice>
    <mc:Fallback xmlns="">
      <p:transition spd="slow" advTm="3718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D09F2E1A-0C88-3AAE-C1E9-96D63AD906E1}"/>
              </a:ext>
            </a:extLst>
          </p:cNvPr>
          <p:cNvGrpSpPr/>
          <p:nvPr/>
        </p:nvGrpSpPr>
        <p:grpSpPr>
          <a:xfrm>
            <a:off x="6710332" y="354374"/>
            <a:ext cx="5634068" cy="2990858"/>
            <a:chOff x="6469032" y="697274"/>
            <a:chExt cx="5634068" cy="2990858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4569B0E-CF40-A9D4-DF80-F0E17BFC5C8C}"/>
                </a:ext>
              </a:extLst>
            </p:cNvPr>
            <p:cNvSpPr txBox="1"/>
            <p:nvPr/>
          </p:nvSpPr>
          <p:spPr>
            <a:xfrm>
              <a:off x="6469032" y="697274"/>
              <a:ext cx="3079689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Project Team:</a:t>
              </a:r>
              <a:endParaRPr lang="en-ID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95487D3-4D42-2BC2-4B64-52AC8DF1D2FC}"/>
                </a:ext>
              </a:extLst>
            </p:cNvPr>
            <p:cNvSpPr txBox="1"/>
            <p:nvPr/>
          </p:nvSpPr>
          <p:spPr>
            <a:xfrm>
              <a:off x="6469032" y="1195142"/>
              <a:ext cx="5634068" cy="2492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just">
                <a:defRPr sz="1200" b="0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Poppins" panose="00000500000000000000" pitchFamily="2" charset="0"/>
                  <a:cs typeface="Poppins" panose="00000500000000000000" pitchFamily="2" charset="0"/>
                </a:defRPr>
              </a:lvl1pPr>
            </a:lstStyle>
            <a:p>
              <a:pPr algn="l"/>
              <a:r>
                <a:rPr lang="en-US" sz="1800" dirty="0">
                  <a:solidFill>
                    <a:schemeClr val="tx1"/>
                  </a:solidFill>
                </a:rPr>
                <a:t>Developed by a team of three: </a:t>
              </a:r>
            </a:p>
            <a:p>
              <a:pPr algn="l"/>
              <a:r>
                <a:rPr lang="en-US" sz="1800" dirty="0">
                  <a:solidFill>
                    <a:schemeClr val="tx1"/>
                  </a:solidFill>
                </a:rPr>
                <a:t>Okasha Nadeem (Team Lead) </a:t>
              </a:r>
            </a:p>
            <a:p>
              <a:pPr algn="l"/>
              <a:r>
                <a:rPr lang="en-US" sz="1800" dirty="0">
                  <a:solidFill>
                    <a:schemeClr val="tx1"/>
                  </a:solidFill>
                </a:rPr>
                <a:t>Muhammad Yahya Alvi</a:t>
              </a:r>
              <a:endParaRPr lang="en-PK" sz="1800" dirty="0">
                <a:solidFill>
                  <a:schemeClr val="tx1"/>
                </a:solidFill>
              </a:endParaRPr>
            </a:p>
            <a:p>
              <a:pPr algn="l"/>
              <a:r>
                <a:rPr lang="en-US" sz="1800" dirty="0">
                  <a:solidFill>
                    <a:schemeClr val="tx1"/>
                  </a:solidFill>
                </a:rPr>
                <a:t>Muhammad Tabish </a:t>
              </a:r>
            </a:p>
            <a:p>
              <a:pPr algn="l"/>
              <a:r>
                <a:rPr lang="en-US" sz="1800" dirty="0">
                  <a:solidFill>
                    <a:schemeClr val="tx1"/>
                  </a:solidFill>
                </a:rPr>
                <a:t>Syed Muhammad Sarim </a:t>
              </a:r>
            </a:p>
            <a:p>
              <a:pPr algn="l"/>
              <a:r>
                <a:rPr lang="en-US" sz="1800" dirty="0">
                  <a:solidFill>
                    <a:schemeClr val="tx1"/>
                  </a:solidFill>
                </a:rPr>
                <a:t>Final project for Programming Fundamentals under the guidance of </a:t>
              </a:r>
            </a:p>
            <a:p>
              <a:pPr algn="l"/>
              <a:r>
                <a:rPr lang="en-US" sz="1800" dirty="0">
                  <a:solidFill>
                    <a:schemeClr val="tx1"/>
                  </a:solidFill>
                </a:rPr>
                <a:t>Miss Iqra — SMI University</a:t>
              </a:r>
              <a:endParaRPr lang="en-PK" sz="1800" dirty="0">
                <a:solidFill>
                  <a:schemeClr val="tx1"/>
                </a:solidFill>
              </a:endParaRPr>
            </a:p>
            <a:p>
              <a:endParaRPr lang="en-ID" dirty="0"/>
            </a:p>
          </p:txBody>
        </p:sp>
      </p:grpSp>
      <p:pic>
        <p:nvPicPr>
          <p:cNvPr id="29" name="Picture Placeholder 28">
            <a:extLst>
              <a:ext uri="{FF2B5EF4-FFF2-40B4-BE49-F238E27FC236}">
                <a16:creationId xmlns:a16="http://schemas.microsoft.com/office/drawing/2014/main" id="{C72D98D9-505C-A301-63DA-82E92C9FEB6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47" r="20347"/>
          <a:stretch>
            <a:fillRect/>
          </a:stretch>
        </p:blipFill>
        <p:spPr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</p:pic>
      <p:sp>
        <p:nvSpPr>
          <p:cNvPr id="3" name="Parallelogram 2">
            <a:extLst>
              <a:ext uri="{FF2B5EF4-FFF2-40B4-BE49-F238E27FC236}">
                <a16:creationId xmlns:a16="http://schemas.microsoft.com/office/drawing/2014/main" id="{37C61C59-FB65-CD97-1C5F-90BCFD354BAC}"/>
              </a:ext>
            </a:extLst>
          </p:cNvPr>
          <p:cNvSpPr/>
          <p:nvPr/>
        </p:nvSpPr>
        <p:spPr>
          <a:xfrm>
            <a:off x="236556" y="2947916"/>
            <a:ext cx="6232478" cy="962170"/>
          </a:xfrm>
          <a:prstGeom prst="parallelogram">
            <a:avLst>
              <a:gd name="adj" fmla="val 63028"/>
            </a:avLst>
          </a:pr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94FB515A-2525-23D2-97D7-6E4B365FC521}"/>
              </a:ext>
            </a:extLst>
          </p:cNvPr>
          <p:cNvSpPr/>
          <p:nvPr/>
        </p:nvSpPr>
        <p:spPr>
          <a:xfrm flipH="1">
            <a:off x="3352794" y="0"/>
            <a:ext cx="3116238" cy="2947916"/>
          </a:xfrm>
          <a:prstGeom prst="parallelogram">
            <a:avLst>
              <a:gd name="adj" fmla="val 61050"/>
            </a:avLst>
          </a:pr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8D02977D-BB54-B0C4-C4AC-A70315AA3949}"/>
              </a:ext>
            </a:extLst>
          </p:cNvPr>
          <p:cNvSpPr/>
          <p:nvPr/>
        </p:nvSpPr>
        <p:spPr>
          <a:xfrm flipH="1">
            <a:off x="236556" y="3910084"/>
            <a:ext cx="3116238" cy="2947916"/>
          </a:xfrm>
          <a:prstGeom prst="parallelogram">
            <a:avLst>
              <a:gd name="adj" fmla="val 61050"/>
            </a:avLst>
          </a:prstGeom>
          <a:gradFill>
            <a:gsLst>
              <a:gs pos="47000">
                <a:schemeClr val="bg2">
                  <a:lumMod val="25000"/>
                </a:schemeClr>
              </a:gs>
              <a:gs pos="90000">
                <a:schemeClr val="bg2">
                  <a:lumMod val="50000"/>
                </a:schemeClr>
              </a:gs>
            </a:gsLst>
            <a:lin ang="18900000" scaled="0"/>
          </a:gradFill>
          <a:ln>
            <a:noFill/>
          </a:ln>
          <a:effectLst/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E713CB-A241-23EC-AF69-4E0258120F93}"/>
              </a:ext>
            </a:extLst>
          </p:cNvPr>
          <p:cNvSpPr txBox="1"/>
          <p:nvPr/>
        </p:nvSpPr>
        <p:spPr>
          <a:xfrm>
            <a:off x="2421286" y="3136613"/>
            <a:ext cx="18630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END</a:t>
            </a:r>
            <a:endParaRPr lang="en-ID" sz="32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ECA4573-9205-F85F-B779-57B7E18242B5}"/>
              </a:ext>
            </a:extLst>
          </p:cNvPr>
          <p:cNvSpPr txBox="1"/>
          <p:nvPr/>
        </p:nvSpPr>
        <p:spPr>
          <a:xfrm>
            <a:off x="1280433" y="4506880"/>
            <a:ext cx="4203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1.</a:t>
            </a:r>
            <a:endParaRPr lang="en-ID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A50827C-F612-DBC4-2A13-AA4A85B50DEC}"/>
              </a:ext>
            </a:extLst>
          </p:cNvPr>
          <p:cNvSpPr txBox="1"/>
          <p:nvPr/>
        </p:nvSpPr>
        <p:spPr>
          <a:xfrm>
            <a:off x="2399371" y="4445324"/>
            <a:ext cx="7617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D" dirty="0">
                <a:latin typeface="Poppins" panose="00000500000000000000" pitchFamily="2" charset="0"/>
                <a:cs typeface="Poppins" panose="00000500000000000000" pitchFamily="2" charset="0"/>
              </a:rPr>
              <a:t>Thank You Every One For Listening Carefully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4DF6014-D088-B048-FA39-7C26E773AA68}"/>
              </a:ext>
            </a:extLst>
          </p:cNvPr>
          <p:cNvSpPr txBox="1"/>
          <p:nvPr/>
        </p:nvSpPr>
        <p:spPr>
          <a:xfrm>
            <a:off x="1831931" y="5516817"/>
            <a:ext cx="4908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2.</a:t>
            </a:r>
            <a:endParaRPr lang="en-ID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0202899-5B94-3C76-BA16-41E5B4F8E789}"/>
              </a:ext>
            </a:extLst>
          </p:cNvPr>
          <p:cNvSpPr txBox="1"/>
          <p:nvPr/>
        </p:nvSpPr>
        <p:spPr>
          <a:xfrm>
            <a:off x="2986135" y="5455261"/>
            <a:ext cx="7872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just"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defRPr>
            </a:lvl1pPr>
          </a:lstStyle>
          <a:p>
            <a:r>
              <a:rPr lang="en-ID" sz="1800" dirty="0">
                <a:solidFill>
                  <a:schemeClr val="tx1"/>
                </a:solidFill>
              </a:rPr>
              <a:t> Now We Are Ready For your Question </a:t>
            </a:r>
            <a:r>
              <a:rPr lang="en-ID" sz="1800" dirty="0" err="1">
                <a:solidFill>
                  <a:schemeClr val="tx1"/>
                </a:solidFill>
              </a:rPr>
              <a:t>Reagards</a:t>
            </a:r>
            <a:r>
              <a:rPr lang="en-ID" sz="1800" dirty="0">
                <a:solidFill>
                  <a:schemeClr val="tx1"/>
                </a:solidFill>
              </a:rPr>
              <a:t> Over Project </a:t>
            </a:r>
          </a:p>
        </p:txBody>
      </p:sp>
    </p:spTree>
    <p:extLst>
      <p:ext uri="{BB962C8B-B14F-4D97-AF65-F5344CB8AC3E}">
        <p14:creationId xmlns:p14="http://schemas.microsoft.com/office/powerpoint/2010/main" val="2176530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5481">
        <p159:morph option="byObject"/>
      </p:transition>
    </mc:Choice>
    <mc:Fallback xmlns="">
      <p:transition spd="slow" advTm="548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8" decel="5384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150"/>
                            </p:stCondLst>
                            <p:childTnLst>
                              <p:par>
                                <p:cTn id="17" presetID="2" presetClass="entr" presetSubtype="2" decel="7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5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150"/>
                            </p:stCondLst>
                            <p:childTnLst>
                              <p:par>
                                <p:cTn id="26" presetID="2" presetClass="entr" presetSubtype="2" decel="7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6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150"/>
                            </p:stCondLst>
                            <p:childTnLst>
                              <p:par>
                                <p:cTn id="35" presetID="2" presetClass="entr" presetSubtype="2" decel="7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5" grpId="0"/>
      <p:bldP spid="76" grpId="0"/>
      <p:bldP spid="79" grpId="0"/>
      <p:bldP spid="80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2235</TotalTime>
  <Words>557</Words>
  <Application>Microsoft Office PowerPoint</Application>
  <PresentationFormat>Widescreen</PresentationFormat>
  <Paragraphs>128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Bebas Neue</vt:lpstr>
      <vt:lpstr>Calibri</vt:lpstr>
      <vt:lpstr>Calibri Light</vt:lpstr>
      <vt:lpstr>Helvetica</vt:lpstr>
      <vt:lpstr>Poppins</vt:lpstr>
      <vt:lpstr>Roboto Cn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Muhamad Erdi</dc:creator>
  <cp:lastModifiedBy>User</cp:lastModifiedBy>
  <cp:revision>32</cp:revision>
  <dcterms:created xsi:type="dcterms:W3CDTF">2024-01-02T12:33:10Z</dcterms:created>
  <dcterms:modified xsi:type="dcterms:W3CDTF">2025-12-27T11:34:28Z</dcterms:modified>
</cp:coreProperties>
</file>